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0961b5f3184105" /><Relationship Type="http://schemas.openxmlformats.org/officeDocument/2006/relationships/extended-properties" Target="/docProps/app.xml" Id="R2a0324cde9fb4f86" /><Relationship Type="http://schemas.openxmlformats.org/officeDocument/2006/relationships/officeDocument" Target="/ppt/presentation.xml" Id="Re5577d4449354f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5ed74e94bf4c40"/>
  </p:sldMasterIdLst>
  <p:notesMasterIdLst>
    <p:notesMasterId xmlns:r="http://schemas.openxmlformats.org/officeDocument/2006/relationships" r:id="R5e118f2897454c72"/>
  </p:notesMasterIdLst>
  <p:sldIdLst>
    <p:sldId xmlns:r="http://schemas.openxmlformats.org/officeDocument/2006/relationships" id="256" r:id="R2701b27bacdd4708"/>
    <p:sldId xmlns:r="http://schemas.openxmlformats.org/officeDocument/2006/relationships" id="257" r:id="R7634eda0abd443b8"/>
    <p:sldId xmlns:r="http://schemas.openxmlformats.org/officeDocument/2006/relationships" id="258" r:id="Rd88cfa5163024855"/>
    <p:sldId xmlns:r="http://schemas.openxmlformats.org/officeDocument/2006/relationships" id="259" r:id="R6a3ebd65747f40a0"/>
    <p:sldId xmlns:r="http://schemas.openxmlformats.org/officeDocument/2006/relationships" id="260" r:id="R4f2a4dc369c945cc"/>
    <p:sldId xmlns:r="http://schemas.openxmlformats.org/officeDocument/2006/relationships" id="261" r:id="R658fbfee08414c68"/>
    <p:sldId xmlns:r="http://schemas.openxmlformats.org/officeDocument/2006/relationships" id="262" r:id="Rdee5dc7e44224bbf"/>
    <p:sldId xmlns:r="http://schemas.openxmlformats.org/officeDocument/2006/relationships" id="263" r:id="R2f88d9b5c6344ede"/>
    <p:sldId xmlns:r="http://schemas.openxmlformats.org/officeDocument/2006/relationships" id="264" r:id="R0c139f8b563f4349"/>
    <p:sldId xmlns:r="http://schemas.openxmlformats.org/officeDocument/2006/relationships" id="265" r:id="R78bbb442347643e0"/>
    <p:sldId xmlns:r="http://schemas.openxmlformats.org/officeDocument/2006/relationships" id="266" r:id="Rdac446477ed74c54"/>
    <p:sldId xmlns:r="http://schemas.openxmlformats.org/officeDocument/2006/relationships" id="267" r:id="Ra3ae02b570434f66"/>
    <p:sldId xmlns:r="http://schemas.openxmlformats.org/officeDocument/2006/relationships" id="268" r:id="R1ef8dbe2acc74610"/>
    <p:sldId xmlns:r="http://schemas.openxmlformats.org/officeDocument/2006/relationships" id="269" r:id="Rc502013b2c3a4ea5"/>
    <p:sldId xmlns:r="http://schemas.openxmlformats.org/officeDocument/2006/relationships" id="270" r:id="R0333888b8e87419e"/>
    <p:sldId xmlns:r="http://schemas.openxmlformats.org/officeDocument/2006/relationships" id="271" r:id="R08419b6c5ca14ca8"/>
    <p:sldId xmlns:r="http://schemas.openxmlformats.org/officeDocument/2006/relationships" id="272" r:id="Rb7fc33d446ba4d2f"/>
    <p:sldId xmlns:r="http://schemas.openxmlformats.org/officeDocument/2006/relationships" id="273" r:id="Ra9505ab3ed394e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d433394214973" /><Relationship Type="http://schemas.openxmlformats.org/officeDocument/2006/relationships/slideMaster" Target="/ppt/slideMasters/slideMaster1.xml" Id="Rff5ed74e94bf4c40" /><Relationship Type="http://schemas.openxmlformats.org/officeDocument/2006/relationships/notesMaster" Target="/ppt/notesMasters/notesMaster1.xml" Id="R5e118f2897454c72" /><Relationship Type="http://schemas.openxmlformats.org/officeDocument/2006/relationships/presProps" Target="/ppt/presProps.xml" Id="R53f9f28b81194535" /><Relationship Type="http://schemas.openxmlformats.org/officeDocument/2006/relationships/tableStyles" Target="/ppt/tableStyles.xml" Id="Rfba89e3445524765" /><Relationship Type="http://schemas.openxmlformats.org/officeDocument/2006/relationships/slide" Target="/ppt/slides/slide1.xml" Id="R2701b27bacdd4708" /><Relationship Type="http://schemas.openxmlformats.org/officeDocument/2006/relationships/slide" Target="/ppt/slides/slide2.xml" Id="R7634eda0abd443b8" /><Relationship Type="http://schemas.openxmlformats.org/officeDocument/2006/relationships/slide" Target="/ppt/slides/slide3.xml" Id="Rd88cfa5163024855" /><Relationship Type="http://schemas.openxmlformats.org/officeDocument/2006/relationships/slide" Target="/ppt/slides/slide4.xml" Id="R6a3ebd65747f40a0" /><Relationship Type="http://schemas.openxmlformats.org/officeDocument/2006/relationships/slide" Target="/ppt/slides/slide5.xml" Id="R4f2a4dc369c945cc" /><Relationship Type="http://schemas.openxmlformats.org/officeDocument/2006/relationships/slide" Target="/ppt/slides/slide6.xml" Id="R658fbfee08414c68" /><Relationship Type="http://schemas.openxmlformats.org/officeDocument/2006/relationships/slide" Target="/ppt/slides/slide7.xml" Id="Rdee5dc7e44224bbf" /><Relationship Type="http://schemas.openxmlformats.org/officeDocument/2006/relationships/slide" Target="/ppt/slides/slide8.xml" Id="R2f88d9b5c6344ede" /><Relationship Type="http://schemas.openxmlformats.org/officeDocument/2006/relationships/slide" Target="/ppt/slides/slide9.xml" Id="R0c139f8b563f4349" /><Relationship Type="http://schemas.openxmlformats.org/officeDocument/2006/relationships/slide" Target="/ppt/slides/slide10.xml" Id="R78bbb442347643e0" /><Relationship Type="http://schemas.openxmlformats.org/officeDocument/2006/relationships/slide" Target="/ppt/slides/slide11.xml" Id="Rdac446477ed74c54" /><Relationship Type="http://schemas.openxmlformats.org/officeDocument/2006/relationships/slide" Target="/ppt/slides/slide12.xml" Id="Ra3ae02b570434f66" /><Relationship Type="http://schemas.openxmlformats.org/officeDocument/2006/relationships/slide" Target="/ppt/slides/slide13.xml" Id="R1ef8dbe2acc74610" /><Relationship Type="http://schemas.openxmlformats.org/officeDocument/2006/relationships/slide" Target="/ppt/slides/slide14.xml" Id="Rc502013b2c3a4ea5" /><Relationship Type="http://schemas.openxmlformats.org/officeDocument/2006/relationships/slide" Target="/ppt/slides/slide15.xml" Id="R0333888b8e87419e" /><Relationship Type="http://schemas.openxmlformats.org/officeDocument/2006/relationships/slide" Target="/ppt/slides/slide16.xml" Id="R08419b6c5ca14ca8" /><Relationship Type="http://schemas.openxmlformats.org/officeDocument/2006/relationships/slide" Target="/ppt/slides/slide17.xml" Id="Rb7fc33d446ba4d2f" /><Relationship Type="http://schemas.openxmlformats.org/officeDocument/2006/relationships/slide" Target="/ppt/slides/slide18.xml" Id="Ra9505ab3ed394e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fb706b225948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046b50e61f4c07" /><Relationship Type="http://schemas.openxmlformats.org/officeDocument/2006/relationships/notesMaster" Target="/ppt/notesMasters/notesMaster1.xml" Id="R4a5d0dee290742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a87ba6188b4f9a" /><Relationship Type="http://schemas.openxmlformats.org/officeDocument/2006/relationships/notesMaster" Target="/ppt/notesMasters/notesMaster1.xml" Id="Rfae1610fea2046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9de7adca5446f0" /><Relationship Type="http://schemas.openxmlformats.org/officeDocument/2006/relationships/notesMaster" Target="/ppt/notesMasters/notesMaster1.xml" Id="Ra29de8e303f546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50a59eb06542a9" /><Relationship Type="http://schemas.openxmlformats.org/officeDocument/2006/relationships/notesMaster" Target="/ppt/notesMasters/notesMaster1.xml" Id="R09eb27331f1e43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c6c90ddb534799" /><Relationship Type="http://schemas.openxmlformats.org/officeDocument/2006/relationships/notesMaster" Target="/ppt/notesMasters/notesMaster1.xml" Id="R12a2077ced0545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418f8f369f4202" /><Relationship Type="http://schemas.openxmlformats.org/officeDocument/2006/relationships/notesMaster" Target="/ppt/notesMasters/notesMaster1.xml" Id="R3293e04a88e44d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7a21c78d20408a" /><Relationship Type="http://schemas.openxmlformats.org/officeDocument/2006/relationships/notesMaster" Target="/ppt/notesMasters/notesMaster1.xml" Id="R08f62719699849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cd6574914e4ce1" /><Relationship Type="http://schemas.openxmlformats.org/officeDocument/2006/relationships/notesMaster" Target="/ppt/notesMasters/notesMaster1.xml" Id="R749b3239168a41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4892646c44407a" /><Relationship Type="http://schemas.openxmlformats.org/officeDocument/2006/relationships/notesMaster" Target="/ppt/notesMasters/notesMaster1.xml" Id="Rc84a729b23ae4b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bd0fc938d84e92" /><Relationship Type="http://schemas.openxmlformats.org/officeDocument/2006/relationships/notesMaster" Target="/ppt/notesMasters/notesMaster1.xml" Id="Rf950e49b642945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44ec6d484c41cd" /><Relationship Type="http://schemas.openxmlformats.org/officeDocument/2006/relationships/notesMaster" Target="/ppt/notesMasters/notesMaster1.xml" Id="Rf7783885ab494f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a2d7d82eac4839" /><Relationship Type="http://schemas.openxmlformats.org/officeDocument/2006/relationships/notesMaster" Target="/ppt/notesMasters/notesMaster1.xml" Id="Re677c79cc0194d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c48451d6f644cb" /><Relationship Type="http://schemas.openxmlformats.org/officeDocument/2006/relationships/notesMaster" Target="/ppt/notesMasters/notesMaster1.xml" Id="Rdad32b559f204c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f0bcab83e748f6" /><Relationship Type="http://schemas.openxmlformats.org/officeDocument/2006/relationships/notesMaster" Target="/ppt/notesMasters/notesMaster1.xml" Id="R6fb92568aed7493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c4f2d267d54f7d" /><Relationship Type="http://schemas.openxmlformats.org/officeDocument/2006/relationships/notesMaster" Target="/ppt/notesMasters/notesMaster1.xml" Id="Rd911bd1297484a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14240d11544000" /><Relationship Type="http://schemas.openxmlformats.org/officeDocument/2006/relationships/notesMaster" Target="/ppt/notesMasters/notesMaster1.xml" Id="R0cec7923d57f42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ed8204e5134890" /><Relationship Type="http://schemas.openxmlformats.org/officeDocument/2006/relationships/notesMaster" Target="/ppt/notesMasters/notesMaster1.xml" Id="R707fa848c07049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ef75b506f945cc" /><Relationship Type="http://schemas.openxmlformats.org/officeDocument/2006/relationships/notesMaster" Target="/ppt/notesMasters/notesMaster1.xml" Id="R5bfaddc2d30647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and the discipline, not the products. This is a private consulting proposal for jointly developing the curriculum, reference implementation, and release program.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curriculum starts from a constraint. Closed-loop systems pay costs that decoupled AI can ignore. Let this statement land before introducing the proposed discipline.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white space as the subject of the engagement. The curriculum does not teach model internals. It teaches the coupling, placement, measurement, and authority system around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two-axis framing keeps governance intellectually honest. Feedback concerns dynamics. Delegation concerns authority. The capstone requires evidence on both.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verbs are the curriculum spine and the evaluation language. They also give partners a durable vocabulary that survives any single board or robot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outcome statement behind the engagement. The promise is intentionally stronger than completing a collection of tutorials. The learner must defend choices with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Quarto site still reflects the older structure. This is the canonical partner-facing architecture. The detailed drafting blueprints and site migration are the next content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hinge of the pitch. Reachy recruits and grounds. UNO Q reproduces the mechanism. Measurement remains inside every lab and the reference runtime rather than becoming a third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that the UNO Q is a certified safety architecture. The curriculum uses the existing dual-domain topology as a teaching implementation for a measured propose-and-dispose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invariant is the quality bar for the curriculum. It separates a serious engineering program from a collection of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MPU proposes intent. The MCU disposes within an action contract. A bad proposal becomes a visible veto. The lab measures Bridge receipt to bounded output and uses the measured tail to defend placement.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curriculum carries a common evidence format without promising a standalone measurement product. The slide shows the measurement contract and reporting shape embedded in each lab.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cadence is staged by completed learning units. Dates and volume commitments are intentionally left for scoping. The review object is substantial enough for technical and editorial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answers the parallel-generation question. We can parallelize within waves once the production packets, cumulative runtime state, and terminology are locked. Reconciliation is part of every wave.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Arduino value is a rigorous learning identity for the UNO Q. Avoid making adoption or sales claims. The concrete deliverable is a coherent reference architecture and release program.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Qualcomm value is technical literacy around placement and governed handoff. Avoid promises about workforce pipelines or market leadership. The engagement can demonstrate a credible pattern on current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private consulting. The valuable package is larger than a manuscript. The next conversation should define the deliverable matrix, review obligations, and ownership posture before attaching a fee or calendar.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low-risk, concrete next step. The requested commitment is a working session, not agreement to an undefined scope. Propose the session while the team is in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16c01a1314b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2442bba55445d" /><Relationship Type="http://schemas.openxmlformats.org/officeDocument/2006/relationships/slideLayout" Target="/ppt/slideLayouts/slideLayout1.xml" Id="R4b9a6deb1e8f4a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9a6deb1e8f4a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bc6570a6c41f7" /><Relationship Type="http://schemas.openxmlformats.org/officeDocument/2006/relationships/image" Target="/ppt/media/image.bin" Id="R6651595771934201" /><Relationship Type="http://schemas.openxmlformats.org/officeDocument/2006/relationships/notesSlide" Target="/ppt/notesSlides/notesSlide1.xml" Id="R2eb8436036b240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8f8e6ebf9484c" /><Relationship Type="http://schemas.openxmlformats.org/officeDocument/2006/relationships/notesSlide" Target="/ppt/notesSlides/notesSlide2.xml" Id="R1f0f1463767442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b96a5c24e4bea" /><Relationship Type="http://schemas.openxmlformats.org/officeDocument/2006/relationships/notesSlide" Target="/ppt/notesSlides/notesSlide3.xml" Id="R9a6d092e2a1d4e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0031110ec4f60" /><Relationship Type="http://schemas.openxmlformats.org/officeDocument/2006/relationships/notesSlide" Target="/ppt/notesSlides/notesSlide4.xml" Id="R86cddb21731647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401272a904178" /><Relationship Type="http://schemas.openxmlformats.org/officeDocument/2006/relationships/notesSlide" Target="/ppt/notesSlides/notesSlide5.xml" Id="R1e15ef1ce4e245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0de83be8242ff" /><Relationship Type="http://schemas.openxmlformats.org/officeDocument/2006/relationships/notesSlide" Target="/ppt/notesSlides/notesSlide6.xml" Id="R8749df17a7a342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e50b55cf84ac8" /><Relationship Type="http://schemas.openxmlformats.org/officeDocument/2006/relationships/notesSlide" Target="/ppt/notesSlides/notesSlide7.xml" Id="R5d8bffced9384d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18c52589e451d" /><Relationship Type="http://schemas.openxmlformats.org/officeDocument/2006/relationships/notesSlide" Target="/ppt/notesSlides/notesSlide8.xml" Id="Rd1297efdec2c4d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89c1709fc4e61" /><Relationship Type="http://schemas.openxmlformats.org/officeDocument/2006/relationships/image" Target="/ppt/media/image.png" Id="Rbcbaa336610346d0" /><Relationship Type="http://schemas.openxmlformats.org/officeDocument/2006/relationships/notesSlide" Target="/ppt/notesSlides/notesSlide9.xml" Id="Rd921d91745e84f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9e6acbab34f20" /><Relationship Type="http://schemas.openxmlformats.org/officeDocument/2006/relationships/notesSlide" Target="/ppt/notesSlides/notesSlide10.xml" Id="R0fa36bf2f47049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08976248843c8" /><Relationship Type="http://schemas.openxmlformats.org/officeDocument/2006/relationships/image" Target="/ppt/media/image2.png" Id="Rf1086e60a198400a" /><Relationship Type="http://schemas.openxmlformats.org/officeDocument/2006/relationships/notesSlide" Target="/ppt/notesSlides/notesSlide11.xml" Id="Rc5e69217f48a45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02dd1f1f4b50" /><Relationship Type="http://schemas.openxmlformats.org/officeDocument/2006/relationships/notesSlide" Target="/ppt/notesSlides/notesSlide12.xml" Id="R5cf326de2a5144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6f57eaba04bc3" /><Relationship Type="http://schemas.openxmlformats.org/officeDocument/2006/relationships/notesSlide" Target="/ppt/notesSlides/notesSlide13.xml" Id="R3053e19caac44d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7c68ae97345fd" /><Relationship Type="http://schemas.openxmlformats.org/officeDocument/2006/relationships/notesSlide" Target="/ppt/notesSlides/notesSlide14.xml" Id="R3384edc7665440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c8ebb430f42d9" /><Relationship Type="http://schemas.openxmlformats.org/officeDocument/2006/relationships/notesSlide" Target="/ppt/notesSlides/notesSlide15.xml" Id="R21425f8abaa742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25c6c4f844218" /><Relationship Type="http://schemas.openxmlformats.org/officeDocument/2006/relationships/notesSlide" Target="/ppt/notesSlides/notesSlide16.xml" Id="Raf79ac94a0b849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09f83cd7149c2" /><Relationship Type="http://schemas.openxmlformats.org/officeDocument/2006/relationships/notesSlide" Target="/ppt/notesSlides/notesSlide17.xml" Id="Rf81ee779005f40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d36cc4c2845c2" /><Relationship Type="http://schemas.openxmlformats.org/officeDocument/2006/relationships/notesSlide" Target="/ppt/notesSlides/notesSlide18.xml" Id="R14ed173d434348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1595771934201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01038606-FAB2-4270-BC66-409BD23E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4EBBEF1-9D7E-4891-8A21-8B3FC61E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PRIVATE PARTNERSHIP PROPOSAL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BA8EF0B-519F-4D4B-B39A-4C94F9F3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Physical AI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5B789EA-02AC-453C-88BC-BBE6E91B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DE4EE"/>
                </a:solidFill>
              </a:defRPr>
            </a:pPr>
            <a:r>
              <a:rPr sz="1875" b="0">
                <a:solidFill>
                  <a:srgbClr val="DDE4EE"/>
                </a:solidFill>
              </a:rPr>
              <a:t>Measure, Place, and Govern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DDE4EE"/>
                </a:solidFill>
              </a:defRPr>
            </a:pPr>
            <a:r>
              <a:rPr sz="1875" b="0">
                <a:solidFill>
                  <a:srgbClr val="DDE4EE"/>
                </a:solidFill>
              </a:rPr>
              <a:t>Closed-Loop AI Systems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B7C405F5-34C4-4DB9-8A19-9C6C74FA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999"/>
            </a:solidFill>
            <a:prstDash val="solid"/>
          </a:ln>
        </p:spPr>
      </p:sp>
      <p:sp>
        <p:nvSpPr>
          <p:cNvPr id="7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BFD1FA3C-23F9-44F4-8927-A699DF8F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Prepared for Arduino and Qualcomm</a:t>
            </a:r>
          </a:p>
        </p:txBody>
      </p:sp>
      <p:sp>
        <p:nvSpPr>
          <p:cNvPr id="8" name="cover-offer">
            <a:extLst xmlns:a="http://schemas.openxmlformats.org/drawingml/2006/main">
              <a:ext uri="{FF2B5EF4-FFF2-40B4-BE49-F238E27FC236}">
                <a16:creationId xmlns:a16="http://schemas.microsoft.com/office/drawing/2014/main" id="{AE3E2F83-9EC1-4439-A0CC-AFD4BD45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8D0DC"/>
                </a:solidFill>
              </a:defRPr>
            </a:pPr>
            <a:r>
              <a:rPr sz="1200" b="0">
                <a:solidFill>
                  <a:srgbClr val="C8D0DC"/>
                </a:solidFill>
              </a:rPr>
              <a:t>Curriculum · labs · reference system · executive technical leadership</a:t>
            </a:r>
          </a:p>
        </p:txBody>
      </p:sp>
      <p:sp>
        <p:nvSpPr>
          <p:cNvPr id="9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CEB0DBBB-0D9C-4E4F-82E5-A929418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03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8C8"/>
                </a:solidFill>
              </a:defRPr>
            </a:pPr>
            <a:r>
              <a:rPr sz="975" b="0">
                <a:solidFill>
                  <a:srgbClr val="AEB8C8"/>
                </a:solidFill>
              </a:rPr>
              <a:t>Vijay Janapa Reddi · Harvard University</a:t>
            </a:r>
          </a:p>
        </p:txBody>
      </p:sp>
    </p:spTree>
    <p:extLst>
      <p:ext uri="{BB962C8B-B14F-4D97-AF65-F5344CB8AC3E}">
        <p14:creationId xmlns:p14="http://schemas.microsoft.com/office/powerpoint/2010/main" val="1660757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2">
            <a:extLst xmlns:a="http://schemas.openxmlformats.org/drawingml/2006/main">
              <a:ext uri="{FF2B5EF4-FFF2-40B4-BE49-F238E27FC236}">
                <a16:creationId xmlns:a16="http://schemas.microsoft.com/office/drawing/2014/main" id="{EC37819D-116D-4655-9F3F-942B76B9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02</a:t>
            </a:r>
          </a:p>
        </p:txBody>
      </p:sp>
      <p:sp>
        <p:nvSpPr>
          <p:cNvPr id="2" name="premise-kicker">
            <a:extLst xmlns:a="http://schemas.openxmlformats.org/drawingml/2006/main">
              <a:ext uri="{FF2B5EF4-FFF2-40B4-BE49-F238E27FC236}">
                <a16:creationId xmlns:a16="http://schemas.microsoft.com/office/drawing/2014/main" id="{5C2B28F4-0B62-48C0-9E11-6249FBF5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0562B"/>
                </a:solidFill>
              </a:defRPr>
            </a:pPr>
            <a:r>
              <a:rPr sz="900" b="1">
                <a:solidFill>
                  <a:srgbClr val="C0562B"/>
                </a:solidFill>
              </a:rPr>
              <a:t>THE PREMISE</a:t>
            </a:r>
          </a:p>
        </p:txBody>
      </p:sp>
      <p:sp>
        <p:nvSpPr>
          <p:cNvPr id="3" name="premise-main">
            <a:extLst xmlns:a="http://schemas.openxmlformats.org/drawingml/2006/main">
              <a:ext uri="{FF2B5EF4-FFF2-40B4-BE49-F238E27FC236}">
                <a16:creationId xmlns:a16="http://schemas.microsoft.com/office/drawing/2014/main" id="{1E6FC0A6-357E-4E09-A12E-92EBE06A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429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B2A4A"/>
                </a:solidFill>
              </a:defRPr>
            </a:pPr>
            <a:r>
              <a:rPr sz="3750" b="1">
                <a:solidFill>
                  <a:srgbClr val="1B2A4A"/>
                </a:solidFill>
              </a:rPr>
              <a:t>A learned policy is not yet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B2A4A"/>
                </a:solidFill>
              </a:defRPr>
            </a:pPr>
            <a:r>
              <a:rPr sz="3750" b="1">
                <a:solidFill>
                  <a:srgbClr val="1B2A4A"/>
                </a:solidFill>
              </a:rPr>
              <a:t>a physical system.</a:t>
            </a:r>
          </a:p>
        </p:txBody>
      </p:sp>
      <p:sp>
        <p:nvSpPr>
          <p:cNvPr id="4" name="premise-body">
            <a:extLst xmlns:a="http://schemas.openxmlformats.org/drawingml/2006/main">
              <a:ext uri="{FF2B5EF4-FFF2-40B4-BE49-F238E27FC236}">
                <a16:creationId xmlns:a16="http://schemas.microsoft.com/office/drawing/2014/main" id="{C329BFA1-620E-44EF-B438-7833C2DE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F4A59"/>
                </a:solidFill>
              </a:defRPr>
            </a:pPr>
            <a:r>
              <a:rPr sz="1800" b="0">
                <a:solidFill>
                  <a:srgbClr val="3F4A59"/>
                </a:solidFill>
              </a:rPr>
              <a:t>The difficult work begins when inference receives authority over a body, acts into a changing world, and must live with what happens next.</a:t>
            </a:r>
          </a:p>
        </p:txBody>
      </p:sp>
      <p:sp>
        <p:nvSpPr>
          <p:cNvPr id="5" name="premise-rule">
            <a:extLst xmlns:a="http://schemas.openxmlformats.org/drawingml/2006/main">
              <a:ext uri="{FF2B5EF4-FFF2-40B4-BE49-F238E27FC236}">
                <a16:creationId xmlns:a16="http://schemas.microsoft.com/office/drawing/2014/main" id="{8EA42F90-DEE7-4D36-B92E-85133B21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3B0"/>
            </a:solidFill>
            <a:prstDash val="solid"/>
          </a:ln>
        </p:spPr>
      </p:sp>
      <p:sp>
        <p:nvSpPr>
          <p:cNvPr id="6" name="premise-three">
            <a:extLst xmlns:a="http://schemas.openxmlformats.org/drawingml/2006/main">
              <a:ext uri="{FF2B5EF4-FFF2-40B4-BE49-F238E27FC236}">
                <a16:creationId xmlns:a16="http://schemas.microsoft.com/office/drawing/2014/main" id="{73B3D59C-38C8-4A62-9E7A-1F23FA8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0562B"/>
                </a:solidFill>
              </a:defRPr>
            </a:pPr>
            <a:r>
              <a:rPr sz="1500" b="1">
                <a:solidFill>
                  <a:srgbClr val="C0562B"/>
                </a:solidFill>
              </a:rPr>
              <a:t>WORLD MOVES</a:t>
            </a:r>
          </a:p>
        </p:txBody>
      </p:sp>
      <p:sp>
        <p:nvSpPr>
          <p:cNvPr id="7" name="premise-three-2">
            <a:extLst xmlns:a="http://schemas.openxmlformats.org/drawingml/2006/main">
              <a:ext uri="{FF2B5EF4-FFF2-40B4-BE49-F238E27FC236}">
                <a16:creationId xmlns:a16="http://schemas.microsoft.com/office/drawing/2014/main" id="{A753735E-2BD3-4AA5-8314-0B7B579E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98C1F"/>
                </a:solidFill>
              </a:defRPr>
            </a:pPr>
            <a:r>
              <a:rPr sz="1500" b="1">
                <a:solidFill>
                  <a:srgbClr val="D98C1F"/>
                </a:solidFill>
              </a:rPr>
              <a:t>KNOWLEDGE STALES</a:t>
            </a:r>
          </a:p>
        </p:txBody>
      </p:sp>
      <p:sp>
        <p:nvSpPr>
          <p:cNvPr id="8" name="premise-three-3">
            <a:extLst xmlns:a="http://schemas.openxmlformats.org/drawingml/2006/main">
              <a:ext uri="{FF2B5EF4-FFF2-40B4-BE49-F238E27FC236}">
                <a16:creationId xmlns:a16="http://schemas.microsoft.com/office/drawing/2014/main" id="{3E85FE30-5993-4ABD-B001-FF64CB9E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ACTION CHANGES THE NEXT INPUT</a:t>
            </a:r>
          </a:p>
        </p:txBody>
      </p:sp>
    </p:spTree>
    <p:extLst>
      <p:ext uri="{BB962C8B-B14F-4D97-AF65-F5344CB8AC3E}">
        <p14:creationId xmlns:p14="http://schemas.microsoft.com/office/powerpoint/2010/main" val="973630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3">
            <a:extLst xmlns:a="http://schemas.openxmlformats.org/drawingml/2006/main">
              <a:ext uri="{FF2B5EF4-FFF2-40B4-BE49-F238E27FC236}">
                <a16:creationId xmlns:a16="http://schemas.microsoft.com/office/drawing/2014/main" id="{9FF614A5-1255-4A70-BCFE-A3D31732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03</a:t>
            </a:r>
          </a:p>
        </p:txBody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627A2B8D-AA60-443C-A2B3-4FCDD308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THE GAP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1F0F91E0-9E21-44BB-898C-72C3F6F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The missing engineering layer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B2039F6E-252B-45F2-8813-E83FF978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Training explains the model. Deployment demands the system around it.</a:t>
            </a:r>
          </a:p>
        </p:txBody>
      </p:sp>
      <p:sp>
        <p:nvSpPr>
          <p:cNvPr id="5" name="gap-arrow-1">
            <a:extLst xmlns:a="http://schemas.openxmlformats.org/drawingml/2006/main">
              <a:ext uri="{FF2B5EF4-FFF2-40B4-BE49-F238E27FC236}">
                <a16:creationId xmlns:a16="http://schemas.microsoft.com/office/drawing/2014/main" id="{8FCB296D-9414-43A2-84B8-DE7D5615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9AA3B0"/>
                </a:solidFill>
              </a:defRPr>
            </a:pPr>
            <a:r>
              <a:rPr sz="2400" b="0">
                <a:solidFill>
                  <a:srgbClr val="9AA3B0"/>
                </a:solidFill>
              </a:rPr>
              <a:t>→</a:t>
            </a:r>
          </a:p>
        </p:txBody>
      </p:sp>
      <p:sp>
        <p:nvSpPr>
          <p:cNvPr id="6" name="gap-arrow-2">
            <a:extLst xmlns:a="http://schemas.openxmlformats.org/drawingml/2006/main">
              <a:ext uri="{FF2B5EF4-FFF2-40B4-BE49-F238E27FC236}">
                <a16:creationId xmlns:a16="http://schemas.microsoft.com/office/drawing/2014/main" id="{0567177B-C8F1-4EAB-8920-F27318DD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6707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9AA3B0"/>
                </a:solidFill>
              </a:defRPr>
            </a:pPr>
            <a:r>
              <a:rPr sz="2400" b="0">
                <a:solidFill>
                  <a:srgbClr val="9AA3B0"/>
                </a:solidFill>
              </a:rPr>
              <a:t>→</a:t>
            </a:r>
          </a:p>
        </p:txBody>
      </p:sp>
      <p:sp>
        <p:nvSpPr>
          <p:cNvPr id="7" name="gap-left">
            <a:extLst xmlns:a="http://schemas.openxmlformats.org/drawingml/2006/main">
              <a:ext uri="{FF2B5EF4-FFF2-40B4-BE49-F238E27FC236}">
                <a16:creationId xmlns:a16="http://schemas.microsoft.com/office/drawing/2014/main" id="{21CC9F0A-6F81-4848-BBEB-FDF4987D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8" name="gap-mid">
            <a:extLst xmlns:a="http://schemas.openxmlformats.org/drawingml/2006/main">
              <a:ext uri="{FF2B5EF4-FFF2-40B4-BE49-F238E27FC236}">
                <a16:creationId xmlns:a16="http://schemas.microsoft.com/office/drawing/2014/main" id="{857741BB-E7F9-4FFE-BFF8-42BF3D4F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34290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B2A4A"/>
          </a:solidFill>
          <a:ln xmlns:a="http://schemas.openxmlformats.org/drawingml/2006/main" w="0">
            <a:solidFill>
              <a:srgbClr val="1B2A4A"/>
            </a:solidFill>
            <a:prstDash val="solid"/>
          </a:ln>
        </p:spPr>
      </p:sp>
      <p:sp>
        <p:nvSpPr>
          <p:cNvPr id="9" name="gap-right">
            <a:extLst xmlns:a="http://schemas.openxmlformats.org/drawingml/2006/main">
              <a:ext uri="{FF2B5EF4-FFF2-40B4-BE49-F238E27FC236}">
                <a16:creationId xmlns:a16="http://schemas.microsoft.com/office/drawing/2014/main" id="{BDC22CC9-1544-4DB0-AB59-7706CE73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19050">
            <a:solidFill>
              <a:srgbClr val="18A999"/>
            </a:solidFill>
            <a:prstDash val="solid"/>
          </a:ln>
        </p:spPr>
      </p:sp>
      <p:sp>
        <p:nvSpPr>
          <p:cNvPr id="10" name="gap-left-title">
            <a:extLst xmlns:a="http://schemas.openxmlformats.org/drawingml/2006/main">
              <a:ext uri="{FF2B5EF4-FFF2-40B4-BE49-F238E27FC236}">
                <a16:creationId xmlns:a16="http://schemas.microsoft.com/office/drawing/2014/main" id="{601AA2E6-C873-4161-B906-76363CF7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A4A"/>
                </a:solidFill>
              </a:defRPr>
            </a:pPr>
            <a:r>
              <a:rPr sz="1125" b="1">
                <a:solidFill>
                  <a:srgbClr val="1B2A4A"/>
                </a:solidFill>
              </a:rPr>
              <a:t>LEARNED POLICY</a:t>
            </a:r>
          </a:p>
        </p:txBody>
      </p:sp>
      <p:sp>
        <p:nvSpPr>
          <p:cNvPr id="11" name="gap-left-body">
            <a:extLst xmlns:a="http://schemas.openxmlformats.org/drawingml/2006/main">
              <a:ext uri="{FF2B5EF4-FFF2-40B4-BE49-F238E27FC236}">
                <a16:creationId xmlns:a16="http://schemas.microsoft.com/office/drawing/2014/main" id="{67687639-2547-46A1-B77F-7BBA6C41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F4A59"/>
                </a:solidFill>
              </a:defRPr>
            </a:pPr>
            <a:r>
              <a:rPr sz="1500" b="0">
                <a:solidFill>
                  <a:srgbClr val="3F4A59"/>
                </a:solidFill>
              </a:rPr>
              <a:t>A black-box component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3F4A59"/>
                </a:solidFill>
              </a:defRPr>
            </a:pPr>
            <a:r>
              <a:rPr sz="1500" b="0">
                <a:solidFill>
                  <a:srgbClr val="3F4A59"/>
                </a:solidFill>
              </a:rPr>
              <a:t>with measurable properties</a:t>
            </a:r>
          </a:p>
        </p:txBody>
      </p:sp>
      <p:sp>
        <p:nvSpPr>
          <p:cNvPr id="12" name="gap-mid-title">
            <a:extLst xmlns:a="http://schemas.openxmlformats.org/drawingml/2006/main">
              <a:ext uri="{FF2B5EF4-FFF2-40B4-BE49-F238E27FC236}">
                <a16:creationId xmlns:a16="http://schemas.microsoft.com/office/drawing/2014/main" id="{CD86F6AC-D7A9-4E11-9685-814856CC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PHYSICAL AI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13" name="gap-mid-body">
            <a:extLst xmlns:a="http://schemas.openxmlformats.org/drawingml/2006/main">
              <a:ext uri="{FF2B5EF4-FFF2-40B4-BE49-F238E27FC236}">
                <a16:creationId xmlns:a16="http://schemas.microsoft.com/office/drawing/2014/main" id="{6CE16896-3B6C-41E3-A7BB-473F0725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CE3EE"/>
                </a:solidFill>
              </a:defRPr>
            </a:pPr>
            <a:r>
              <a:rPr sz="1350" b="0">
                <a:solidFill>
                  <a:srgbClr val="DCE3EE"/>
                </a:solidFill>
              </a:rPr>
              <a:t>Measure the running loop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CE3EE"/>
                </a:solidFill>
              </a:defRPr>
            </a:pPr>
            <a:r>
              <a:rPr sz="1350" b="0">
                <a:solidFill>
                  <a:srgbClr val="DCE3EE"/>
                </a:solidFill>
              </a:rPr>
              <a:t>Place capability against budgets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CE3EE"/>
                </a:solidFill>
              </a:defRPr>
            </a:pPr>
            <a:r>
              <a:rPr sz="1350" b="0">
                <a:solidFill>
                  <a:srgbClr val="DCE3EE"/>
                </a:solidFill>
              </a:rPr>
              <a:t>Govern delegated authority</a:t>
            </a:r>
          </a:p>
        </p:txBody>
      </p:sp>
      <p:sp>
        <p:nvSpPr>
          <p:cNvPr id="14" name="gap-right-title">
            <a:extLst xmlns:a="http://schemas.openxmlformats.org/drawingml/2006/main">
              <a:ext uri="{FF2B5EF4-FFF2-40B4-BE49-F238E27FC236}">
                <a16:creationId xmlns:a16="http://schemas.microsoft.com/office/drawing/2014/main" id="{C3CDDBB4-B5F7-4C7C-822D-631DAC19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8A999"/>
                </a:solidFill>
              </a:defRPr>
            </a:pPr>
            <a:r>
              <a:rPr sz="1125" b="1">
                <a:solidFill>
                  <a:srgbClr val="18A999"/>
                </a:solidFill>
              </a:rPr>
              <a:t>PHYSICAL CONSEQUENCE</a:t>
            </a:r>
          </a:p>
        </p:txBody>
      </p:sp>
      <p:sp>
        <p:nvSpPr>
          <p:cNvPr id="15" name="gap-right-body">
            <a:extLst xmlns:a="http://schemas.openxmlformats.org/drawingml/2006/main">
              <a:ext uri="{FF2B5EF4-FFF2-40B4-BE49-F238E27FC236}">
                <a16:creationId xmlns:a16="http://schemas.microsoft.com/office/drawing/2014/main" id="{DD63B8BE-4666-4569-BC96-849659DF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F4A59"/>
                </a:solidFill>
              </a:defRPr>
            </a:pPr>
            <a:r>
              <a:rPr sz="1500" b="0">
                <a:solidFill>
                  <a:srgbClr val="3F4A59"/>
                </a:solidFill>
              </a:rPr>
              <a:t>A body acting in real time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3F4A59"/>
                </a:solidFill>
              </a:defRPr>
            </a:pPr>
            <a:r>
              <a:rPr sz="1500" b="0">
                <a:solidFill>
                  <a:srgbClr val="3F4A59"/>
                </a:solidFill>
              </a:rPr>
              <a:t>and human space</a:t>
            </a:r>
          </a:p>
        </p:txBody>
      </p:sp>
    </p:spTree>
    <p:extLst>
      <p:ext uri="{BB962C8B-B14F-4D97-AF65-F5344CB8AC3E}">
        <p14:creationId xmlns:p14="http://schemas.microsoft.com/office/powerpoint/2010/main" val="373158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4">
            <a:extLst xmlns:a="http://schemas.openxmlformats.org/drawingml/2006/main">
              <a:ext uri="{FF2B5EF4-FFF2-40B4-BE49-F238E27FC236}">
                <a16:creationId xmlns:a16="http://schemas.microsoft.com/office/drawing/2014/main" id="{0017F177-EE25-405E-9E34-0E7EBF03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0CE"/>
                </a:solidFill>
              </a:defRPr>
            </a:pPr>
            <a:r>
              <a:rPr sz="825" b="1">
                <a:solidFill>
                  <a:srgbClr val="B8C0CE"/>
                </a:solidFill>
              </a:rPr>
              <a:t>04</a:t>
            </a:r>
          </a:p>
        </p:txBody>
      </p:sp>
      <p:sp>
        <p:nvSpPr>
          <p:cNvPr id="2" name="constraints-kicker">
            <a:extLst xmlns:a="http://schemas.openxmlformats.org/drawingml/2006/main">
              <a:ext uri="{FF2B5EF4-FFF2-40B4-BE49-F238E27FC236}">
                <a16:creationId xmlns:a16="http://schemas.microsoft.com/office/drawing/2014/main" id="{0A0A2B0C-72C8-4AA6-A59F-0F2B8CA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THE DISCIPLINE</a:t>
            </a:r>
          </a:p>
        </p:txBody>
      </p:sp>
      <p:sp>
        <p:nvSpPr>
          <p:cNvPr id="3" name="constraints-title">
            <a:extLst xmlns:a="http://schemas.openxmlformats.org/drawingml/2006/main">
              <a:ext uri="{FF2B5EF4-FFF2-40B4-BE49-F238E27FC236}">
                <a16:creationId xmlns:a16="http://schemas.microsoft.com/office/drawing/2014/main" id="{FA73029D-4046-4E38-BCEB-3E4492CF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Two constraints organize the field.</a:t>
            </a:r>
          </a:p>
        </p:txBody>
      </p:sp>
      <p:sp>
        <p:nvSpPr>
          <p:cNvPr id="4" name="constraints-divider">
            <a:extLst xmlns:a="http://schemas.openxmlformats.org/drawingml/2006/main">
              <a:ext uri="{FF2B5EF4-FFF2-40B4-BE49-F238E27FC236}">
                <a16:creationId xmlns:a16="http://schemas.microsoft.com/office/drawing/2014/main" id="{A9D17D45-E490-4755-9A44-DD20C301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3708A"/>
            </a:solidFill>
            <a:prstDash val="solid"/>
          </a:ln>
        </p:spPr>
      </p:sp>
      <p:sp>
        <p:nvSpPr>
          <p:cNvPr id="5" name="feedback-title">
            <a:extLst xmlns:a="http://schemas.openxmlformats.org/drawingml/2006/main">
              <a:ext uri="{FF2B5EF4-FFF2-40B4-BE49-F238E27FC236}">
                <a16:creationId xmlns:a16="http://schemas.microsoft.com/office/drawing/2014/main" id="{03AA288E-3755-453B-9B8B-2F57CEA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FE2D8"/>
                </a:solidFill>
              </a:defRPr>
            </a:pPr>
            <a:r>
              <a:rPr sz="1500" b="1">
                <a:solidFill>
                  <a:srgbClr val="8FE2D8"/>
                </a:solidFill>
              </a:rPr>
              <a:t>01  FEEDBACK</a:t>
            </a:r>
          </a:p>
        </p:txBody>
      </p:sp>
      <p:sp>
        <p:nvSpPr>
          <p:cNvPr id="6" name="feedback-big">
            <a:extLst xmlns:a="http://schemas.openxmlformats.org/drawingml/2006/main">
              <a:ext uri="{FF2B5EF4-FFF2-40B4-BE49-F238E27FC236}">
                <a16:creationId xmlns:a16="http://schemas.microsoft.com/office/drawing/2014/main" id="{EAB9DD11-7D65-4F22-9545-C1FCD1C1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Can the system remain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correct while the world moves?</a:t>
            </a:r>
          </a:p>
        </p:txBody>
      </p:sp>
      <p:sp>
        <p:nvSpPr>
          <p:cNvPr id="7" name="feedback-body">
            <a:extLst xmlns:a="http://schemas.openxmlformats.org/drawingml/2006/main">
              <a:ext uri="{FF2B5EF4-FFF2-40B4-BE49-F238E27FC236}">
                <a16:creationId xmlns:a16="http://schemas.microsoft.com/office/drawing/2014/main" id="{F347C18F-9D91-4D7F-B547-4489080B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CDDA"/>
                </a:solidFill>
              </a:defRPr>
            </a:pPr>
            <a:r>
              <a:rPr sz="1500" b="0">
                <a:solidFill>
                  <a:srgbClr val="C5CDDA"/>
                </a:solidFill>
              </a:rPr>
              <a:t>Freshness · estimation · delay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5CDDA"/>
                </a:solidFill>
              </a:defRPr>
            </a:pPr>
            <a:r>
              <a:rPr sz="1500" b="0">
                <a:solidFill>
                  <a:srgbClr val="C5CDDA"/>
                </a:solidFill>
              </a:rPr>
              <a:t>stability · placement · recovery</a:t>
            </a:r>
          </a:p>
        </p:txBody>
      </p:sp>
      <p:sp>
        <p:nvSpPr>
          <p:cNvPr id="8" name="delegation-title">
            <a:extLst xmlns:a="http://schemas.openxmlformats.org/drawingml/2006/main">
              <a:ext uri="{FF2B5EF4-FFF2-40B4-BE49-F238E27FC236}">
                <a16:creationId xmlns:a16="http://schemas.microsoft.com/office/drawing/2014/main" id="{E2A0330C-E770-4082-B202-706BF2A6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08B"/>
                </a:solidFill>
              </a:defRPr>
            </a:pPr>
            <a:r>
              <a:rPr sz="1500" b="1">
                <a:solidFill>
                  <a:srgbClr val="F4C08B"/>
                </a:solidFill>
              </a:rPr>
              <a:t>02  DELEGATION</a:t>
            </a:r>
          </a:p>
        </p:txBody>
      </p:sp>
      <p:sp>
        <p:nvSpPr>
          <p:cNvPr id="9" name="delegation-big">
            <a:extLst xmlns:a="http://schemas.openxmlformats.org/drawingml/2006/main">
              <a:ext uri="{FF2B5EF4-FFF2-40B4-BE49-F238E27FC236}">
                <a16:creationId xmlns:a16="http://schemas.microsoft.com/office/drawing/2014/main" id="{C901813F-0598-4E8B-8F8B-200465F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Can the system be trusted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with authority in human space?</a:t>
            </a:r>
          </a:p>
        </p:txBody>
      </p:sp>
      <p:sp>
        <p:nvSpPr>
          <p:cNvPr id="10" name="delegation-body">
            <a:extLst xmlns:a="http://schemas.openxmlformats.org/drawingml/2006/main">
              <a:ext uri="{FF2B5EF4-FFF2-40B4-BE49-F238E27FC236}">
                <a16:creationId xmlns:a16="http://schemas.microsoft.com/office/drawing/2014/main" id="{1EC9C530-0DA1-42A3-B448-66D8F8FD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CDDA"/>
                </a:solidFill>
              </a:defRPr>
            </a:pPr>
            <a:r>
              <a:rPr sz="1500" b="0">
                <a:solidFill>
                  <a:srgbClr val="C5CDDA"/>
                </a:solidFill>
              </a:rPr>
              <a:t>Safety · privacy · consent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5CDDA"/>
                </a:solidFill>
              </a:defRPr>
            </a:pPr>
            <a:r>
              <a:rPr sz="1500" b="0">
                <a:solidFill>
                  <a:srgbClr val="C5CDDA"/>
                </a:solidFill>
              </a:rPr>
              <a:t>inspectability · human approval</a:t>
            </a:r>
          </a:p>
        </p:txBody>
      </p:sp>
      <p:sp>
        <p:nvSpPr>
          <p:cNvPr id="11" name="constraints-bottom">
            <a:extLst xmlns:a="http://schemas.openxmlformats.org/drawingml/2006/main">
              <a:ext uri="{FF2B5EF4-FFF2-40B4-BE49-F238E27FC236}">
                <a16:creationId xmlns:a16="http://schemas.microsoft.com/office/drawing/2014/main" id="{C90BF25E-7D39-4BA4-9A3D-5067F647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curriculum joins both without pretending one explains the other.</a:t>
            </a:r>
          </a:p>
        </p:txBody>
      </p:sp>
    </p:spTree>
    <p:extLst>
      <p:ext uri="{BB962C8B-B14F-4D97-AF65-F5344CB8AC3E}">
        <p14:creationId xmlns:p14="http://schemas.microsoft.com/office/powerpoint/2010/main" val="65878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5">
            <a:extLst xmlns:a="http://schemas.openxmlformats.org/drawingml/2006/main">
              <a:ext uri="{FF2B5EF4-FFF2-40B4-BE49-F238E27FC236}">
                <a16:creationId xmlns:a16="http://schemas.microsoft.com/office/drawing/2014/main" id="{0EBF73E7-7232-45A7-BE7F-112D04CE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05</a:t>
            </a:r>
          </a:p>
        </p:txBody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BD36E463-77A3-4B2B-BCF8-1B2B7391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GRADUATE CAPABILITY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02CAB614-81DE-42F3-B373-3293C446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Seven verbs define the discipline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A3ADF6D0-EEC8-42A9-9313-A80C2A7B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The learner graduates with repeatable engineering actions, not product familiarity.</a:t>
            </a:r>
          </a:p>
        </p:txBody>
      </p:sp>
      <p:sp>
        <p:nvSpPr>
          <p:cNvPr id="5" name="verb-0">
            <a:extLst xmlns:a="http://schemas.openxmlformats.org/drawingml/2006/main">
              <a:ext uri="{FF2B5EF4-FFF2-40B4-BE49-F238E27FC236}">
                <a16:creationId xmlns:a16="http://schemas.microsoft.com/office/drawing/2014/main" id="{760A7F16-451E-45B6-9D13-10B3D318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B2A4A"/>
                </a:solidFill>
              </a:defRPr>
            </a:pPr>
            <a:r>
              <a:rPr sz="2025" b="1">
                <a:solidFill>
                  <a:srgbClr val="1B2A4A"/>
                </a:solidFill>
              </a:rPr>
              <a:t>FRAME</a:t>
            </a:r>
          </a:p>
        </p:txBody>
      </p:sp>
      <p:sp>
        <p:nvSpPr>
          <p:cNvPr id="6" name="verb-rule-0">
            <a:extLst xmlns:a="http://schemas.openxmlformats.org/drawingml/2006/main">
              <a:ext uri="{FF2B5EF4-FFF2-40B4-BE49-F238E27FC236}">
                <a16:creationId xmlns:a16="http://schemas.microsoft.com/office/drawing/2014/main" id="{293CA552-2F16-4D41-87F1-11C114AC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7" name="verb-1">
            <a:extLst xmlns:a="http://schemas.openxmlformats.org/drawingml/2006/main">
              <a:ext uri="{FF2B5EF4-FFF2-40B4-BE49-F238E27FC236}">
                <a16:creationId xmlns:a16="http://schemas.microsoft.com/office/drawing/2014/main" id="{9CF96FC0-69D4-427C-84F4-85E407B9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B2A4A"/>
                </a:solidFill>
              </a:defRPr>
            </a:pPr>
            <a:r>
              <a:rPr sz="2025" b="1">
                <a:solidFill>
                  <a:srgbClr val="1B2A4A"/>
                </a:solidFill>
              </a:rPr>
              <a:t>DESIGN</a:t>
            </a:r>
          </a:p>
        </p:txBody>
      </p:sp>
      <p:sp>
        <p:nvSpPr>
          <p:cNvPr id="8" name="verb-rule-1">
            <a:extLst xmlns:a="http://schemas.openxmlformats.org/drawingml/2006/main">
              <a:ext uri="{FF2B5EF4-FFF2-40B4-BE49-F238E27FC236}">
                <a16:creationId xmlns:a16="http://schemas.microsoft.com/office/drawing/2014/main" id="{8879C6FD-E70A-4769-923B-C85B5561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9" name="verb-2">
            <a:extLst xmlns:a="http://schemas.openxmlformats.org/drawingml/2006/main">
              <a:ext uri="{FF2B5EF4-FFF2-40B4-BE49-F238E27FC236}">
                <a16:creationId xmlns:a16="http://schemas.microsoft.com/office/drawing/2014/main" id="{693E0FD0-8111-4A96-85BA-CF0A3F1E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B2A4A"/>
                </a:solidFill>
              </a:defRPr>
            </a:pPr>
            <a:r>
              <a:rPr sz="2025" b="1">
                <a:solidFill>
                  <a:srgbClr val="1B2A4A"/>
                </a:solidFill>
              </a:rPr>
              <a:t>GROUND</a:t>
            </a:r>
          </a:p>
        </p:txBody>
      </p:sp>
      <p:sp>
        <p:nvSpPr>
          <p:cNvPr id="10" name="verb-rule-2">
            <a:extLst xmlns:a="http://schemas.openxmlformats.org/drawingml/2006/main">
              <a:ext uri="{FF2B5EF4-FFF2-40B4-BE49-F238E27FC236}">
                <a16:creationId xmlns:a16="http://schemas.microsoft.com/office/drawing/2014/main" id="{E770BD7D-513A-415B-9BE8-F9EC35FB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11" name="verb-3">
            <a:extLst xmlns:a="http://schemas.openxmlformats.org/drawingml/2006/main">
              <a:ext uri="{FF2B5EF4-FFF2-40B4-BE49-F238E27FC236}">
                <a16:creationId xmlns:a16="http://schemas.microsoft.com/office/drawing/2014/main" id="{90FA907E-10EE-4E71-8CAD-60660E1C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8A999"/>
                </a:solidFill>
              </a:defRPr>
            </a:pPr>
            <a:r>
              <a:rPr sz="2100" b="1">
                <a:solidFill>
                  <a:srgbClr val="18A999"/>
                </a:solidFill>
              </a:rPr>
              <a:t>MEASURE + PLACE</a:t>
            </a:r>
          </a:p>
        </p:txBody>
      </p:sp>
      <p:sp>
        <p:nvSpPr>
          <p:cNvPr id="12" name="verb-rule-3">
            <a:extLst xmlns:a="http://schemas.openxmlformats.org/drawingml/2006/main">
              <a:ext uri="{FF2B5EF4-FFF2-40B4-BE49-F238E27FC236}">
                <a16:creationId xmlns:a16="http://schemas.microsoft.com/office/drawing/2014/main" id="{9FB49E75-E315-41D3-AEF0-F61E4BEE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999"/>
            </a:solidFill>
            <a:prstDash val="solid"/>
          </a:ln>
        </p:spPr>
      </p:sp>
      <p:sp>
        <p:nvSpPr>
          <p:cNvPr id="13" name="verb-4">
            <a:extLst xmlns:a="http://schemas.openxmlformats.org/drawingml/2006/main">
              <a:ext uri="{FF2B5EF4-FFF2-40B4-BE49-F238E27FC236}">
                <a16:creationId xmlns:a16="http://schemas.microsoft.com/office/drawing/2014/main" id="{C8E92BFF-551C-43DB-8771-D92ECE41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95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B2A4A"/>
                </a:solidFill>
              </a:defRPr>
            </a:pPr>
            <a:r>
              <a:rPr sz="2025" b="1">
                <a:solidFill>
                  <a:srgbClr val="1B2A4A"/>
                </a:solidFill>
              </a:rPr>
              <a:t>ASSURE</a:t>
            </a:r>
          </a:p>
        </p:txBody>
      </p:sp>
      <p:sp>
        <p:nvSpPr>
          <p:cNvPr id="14" name="verb-rule-4">
            <a:extLst xmlns:a="http://schemas.openxmlformats.org/drawingml/2006/main">
              <a:ext uri="{FF2B5EF4-FFF2-40B4-BE49-F238E27FC236}">
                <a16:creationId xmlns:a16="http://schemas.microsoft.com/office/drawing/2014/main" id="{7A2CA5D6-B2D5-47C9-9812-B8863A35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15" name="verb-5">
            <a:extLst xmlns:a="http://schemas.openxmlformats.org/drawingml/2006/main">
              <a:ext uri="{FF2B5EF4-FFF2-40B4-BE49-F238E27FC236}">
                <a16:creationId xmlns:a16="http://schemas.microsoft.com/office/drawing/2014/main" id="{C877F024-0AC4-478B-A72D-71C66460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B2A4A"/>
                </a:solidFill>
              </a:defRPr>
            </a:pPr>
            <a:r>
              <a:rPr sz="2025" b="1">
                <a:solidFill>
                  <a:srgbClr val="1B2A4A"/>
                </a:solidFill>
              </a:rPr>
              <a:t>SUPERVISE</a:t>
            </a:r>
          </a:p>
        </p:txBody>
      </p:sp>
      <p:sp>
        <p:nvSpPr>
          <p:cNvPr id="16" name="verb-rule-5">
            <a:extLst xmlns:a="http://schemas.openxmlformats.org/drawingml/2006/main">
              <a:ext uri="{FF2B5EF4-FFF2-40B4-BE49-F238E27FC236}">
                <a16:creationId xmlns:a16="http://schemas.microsoft.com/office/drawing/2014/main" id="{60AF0B69-BB82-40CF-A6F3-304F8503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482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17" name="verb-6">
            <a:extLst xmlns:a="http://schemas.openxmlformats.org/drawingml/2006/main">
              <a:ext uri="{FF2B5EF4-FFF2-40B4-BE49-F238E27FC236}">
                <a16:creationId xmlns:a16="http://schemas.microsoft.com/office/drawing/2014/main" id="{FF39185A-AA23-4467-B3E3-39E1D18B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0562B"/>
                </a:solidFill>
              </a:defRPr>
            </a:pPr>
            <a:r>
              <a:rPr sz="2025" b="1">
                <a:solidFill>
                  <a:srgbClr val="C0562B"/>
                </a:solidFill>
              </a:rPr>
              <a:t>DIAGNOSE</a:t>
            </a:r>
          </a:p>
        </p:txBody>
      </p:sp>
      <p:sp>
        <p:nvSpPr>
          <p:cNvPr id="18" name="verb-rule-6">
            <a:extLst xmlns:a="http://schemas.openxmlformats.org/drawingml/2006/main">
              <a:ext uri="{FF2B5EF4-FFF2-40B4-BE49-F238E27FC236}">
                <a16:creationId xmlns:a16="http://schemas.microsoft.com/office/drawing/2014/main" id="{4364DE37-CDB0-4DFE-8A0B-31A967B3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482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562B"/>
            </a:solidFill>
            <a:prstDash val="solid"/>
          </a:ln>
        </p:spPr>
      </p:sp>
      <p:sp>
        <p:nvSpPr>
          <p:cNvPr id="19" name="verbs-bottom">
            <a:extLst xmlns:a="http://schemas.openxmlformats.org/drawingml/2006/main">
              <a:ext uri="{FF2B5EF4-FFF2-40B4-BE49-F238E27FC236}">
                <a16:creationId xmlns:a16="http://schemas.microsoft.com/office/drawing/2014/main" id="{3BFADA7F-AB32-4DD9-B006-8FC2EFE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959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F4A59"/>
                </a:solidFill>
              </a:defRPr>
            </a:pPr>
            <a:r>
              <a:rPr sz="1575" b="1">
                <a:solidFill>
                  <a:srgbClr val="3F4A59"/>
                </a:solidFill>
              </a:rPr>
              <a:t>Every chapter builds one capability. The capstone demands evidence for all seven.</a:t>
            </a:r>
          </a:p>
        </p:txBody>
      </p:sp>
    </p:spTree>
    <p:extLst>
      <p:ext uri="{BB962C8B-B14F-4D97-AF65-F5344CB8AC3E}">
        <p14:creationId xmlns:p14="http://schemas.microsoft.com/office/powerpoint/2010/main" val="1854734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6">
            <a:extLst xmlns:a="http://schemas.openxmlformats.org/drawingml/2006/main">
              <a:ext uri="{FF2B5EF4-FFF2-40B4-BE49-F238E27FC236}">
                <a16:creationId xmlns:a16="http://schemas.microsoft.com/office/drawing/2014/main" id="{85B348B9-CD9E-411D-BE9B-FBAC2F7B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06</a:t>
            </a:r>
          </a:p>
        </p:txBody>
      </p:sp>
      <p:sp>
        <p:nvSpPr>
          <p:cNvPr id="2" name="promise-kicker">
            <a:extLst xmlns:a="http://schemas.openxmlformats.org/drawingml/2006/main">
              <a:ext uri="{FF2B5EF4-FFF2-40B4-BE49-F238E27FC236}">
                <a16:creationId xmlns:a16="http://schemas.microsoft.com/office/drawing/2014/main" id="{CF4A4ADA-9946-4465-85EB-EAD2EA7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THE GRADUATE PROMISE</a:t>
            </a:r>
          </a:p>
        </p:txBody>
      </p:sp>
      <p:sp>
        <p:nvSpPr>
          <p:cNvPr id="3" name="promise-quote">
            <a:extLst xmlns:a="http://schemas.openxmlformats.org/drawingml/2006/main">
              <a:ext uri="{FF2B5EF4-FFF2-40B4-BE49-F238E27FC236}">
                <a16:creationId xmlns:a16="http://schemas.microsoft.com/office/drawing/2014/main" id="{1CEF0A6B-93BC-4ED3-83BE-9CE4BCED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2A4A"/>
                </a:solidFill>
              </a:defRPr>
            </a:pPr>
            <a:r>
              <a:rPr sz="3150" b="1">
                <a:solidFill>
                  <a:srgbClr val="1B2A4A"/>
                </a:solidFill>
              </a:rPr>
              <a:t>A graduate can take a physical-AI problem they have never seen and defend the whole system.</a:t>
            </a:r>
          </a:p>
        </p:txBody>
      </p:sp>
      <p:sp>
        <p:nvSpPr>
          <p:cNvPr id="4" name="promise-n-0">
            <a:extLst xmlns:a="http://schemas.openxmlformats.org/drawingml/2006/main">
              <a:ext uri="{FF2B5EF4-FFF2-40B4-BE49-F238E27FC236}">
                <a16:creationId xmlns:a16="http://schemas.microsoft.com/office/drawing/2014/main" id="{C29579A0-EE8D-4755-91E1-4950A96B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01</a:t>
            </a:r>
          </a:p>
        </p:txBody>
      </p:sp>
      <p:sp>
        <p:nvSpPr>
          <p:cNvPr id="5" name="promise-a-0">
            <a:extLst xmlns:a="http://schemas.openxmlformats.org/drawingml/2006/main">
              <a:ext uri="{FF2B5EF4-FFF2-40B4-BE49-F238E27FC236}">
                <a16:creationId xmlns:a16="http://schemas.microsoft.com/office/drawing/2014/main" id="{4789BCDE-5E13-4176-AFE2-9C924734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Architect</a:t>
            </a:r>
          </a:p>
        </p:txBody>
      </p:sp>
      <p:sp>
        <p:nvSpPr>
          <p:cNvPr id="6" name="promise-b-0">
            <a:extLst xmlns:a="http://schemas.openxmlformats.org/drawingml/2006/main">
              <a:ext uri="{FF2B5EF4-FFF2-40B4-BE49-F238E27FC236}">
                <a16:creationId xmlns:a16="http://schemas.microsoft.com/office/drawing/2014/main" id="{EE0E02FF-9B18-4284-A6EA-EFF526E6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a continuous system</a:t>
            </a:r>
          </a:p>
        </p:txBody>
      </p:sp>
      <p:sp>
        <p:nvSpPr>
          <p:cNvPr id="7" name="promise-n-1">
            <a:extLst xmlns:a="http://schemas.openxmlformats.org/drawingml/2006/main">
              <a:ext uri="{FF2B5EF4-FFF2-40B4-BE49-F238E27FC236}">
                <a16:creationId xmlns:a16="http://schemas.microsoft.com/office/drawing/2014/main" id="{7DDE7E46-3D7A-4C17-8D4E-8248FF66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02</a:t>
            </a:r>
          </a:p>
        </p:txBody>
      </p:sp>
      <p:sp>
        <p:nvSpPr>
          <p:cNvPr id="8" name="promise-a-1">
            <a:extLst xmlns:a="http://schemas.openxmlformats.org/drawingml/2006/main">
              <a:ext uri="{FF2B5EF4-FFF2-40B4-BE49-F238E27FC236}">
                <a16:creationId xmlns:a16="http://schemas.microsoft.com/office/drawing/2014/main" id="{93CECAEB-88AB-4A77-B5AD-46AEA9F2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24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Measure</a:t>
            </a:r>
          </a:p>
        </p:txBody>
      </p:sp>
      <p:sp>
        <p:nvSpPr>
          <p:cNvPr id="9" name="promise-b-1">
            <a:extLst xmlns:a="http://schemas.openxmlformats.org/drawingml/2006/main">
              <a:ext uri="{FF2B5EF4-FFF2-40B4-BE49-F238E27FC236}">
                <a16:creationId xmlns:a16="http://schemas.microsoft.com/office/drawing/2014/main" id="{0D79227B-A6F2-4F4D-8992-AD6BBB3D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241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the running loop</a:t>
            </a:r>
          </a:p>
        </p:txBody>
      </p:sp>
      <p:sp>
        <p:nvSpPr>
          <p:cNvPr id="10" name="promise-n-2">
            <a:extLst xmlns:a="http://schemas.openxmlformats.org/drawingml/2006/main">
              <a:ext uri="{FF2B5EF4-FFF2-40B4-BE49-F238E27FC236}">
                <a16:creationId xmlns:a16="http://schemas.microsoft.com/office/drawing/2014/main" id="{6A17FC00-71D7-4283-ABA5-057602B7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03</a:t>
            </a:r>
          </a:p>
        </p:txBody>
      </p:sp>
      <p:sp>
        <p:nvSpPr>
          <p:cNvPr id="11" name="promise-a-2">
            <a:extLst xmlns:a="http://schemas.openxmlformats.org/drawingml/2006/main">
              <a:ext uri="{FF2B5EF4-FFF2-40B4-BE49-F238E27FC236}">
                <a16:creationId xmlns:a16="http://schemas.microsoft.com/office/drawing/2014/main" id="{2454481F-671B-4D18-AD11-01D5C0F9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00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Place</a:t>
            </a:r>
          </a:p>
        </p:txBody>
      </p:sp>
      <p:sp>
        <p:nvSpPr>
          <p:cNvPr id="12" name="promise-b-2">
            <a:extLst xmlns:a="http://schemas.openxmlformats.org/drawingml/2006/main">
              <a:ext uri="{FF2B5EF4-FFF2-40B4-BE49-F238E27FC236}">
                <a16:creationId xmlns:a16="http://schemas.microsoft.com/office/drawing/2014/main" id="{6ACBF742-8365-47D9-B7D1-4E545427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004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each capability against a fixed budget</a:t>
            </a:r>
          </a:p>
        </p:txBody>
      </p:sp>
      <p:sp>
        <p:nvSpPr>
          <p:cNvPr id="13" name="promise-n-3">
            <a:extLst xmlns:a="http://schemas.openxmlformats.org/drawingml/2006/main">
              <a:ext uri="{FF2B5EF4-FFF2-40B4-BE49-F238E27FC236}">
                <a16:creationId xmlns:a16="http://schemas.microsoft.com/office/drawing/2014/main" id="{4D251F2C-18E5-4977-9F30-3D84F099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04</a:t>
            </a:r>
          </a:p>
        </p:txBody>
      </p:sp>
      <p:sp>
        <p:nvSpPr>
          <p:cNvPr id="14" name="promise-a-3">
            <a:extLst xmlns:a="http://schemas.openxmlformats.org/drawingml/2006/main">
              <a:ext uri="{FF2B5EF4-FFF2-40B4-BE49-F238E27FC236}">
                <a16:creationId xmlns:a16="http://schemas.microsoft.com/office/drawing/2014/main" id="{D1553193-8B2E-43EB-BAF2-EFC7F9E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00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Assure</a:t>
            </a:r>
          </a:p>
        </p:txBody>
      </p:sp>
      <p:sp>
        <p:nvSpPr>
          <p:cNvPr id="15" name="promise-b-3">
            <a:extLst xmlns:a="http://schemas.openxmlformats.org/drawingml/2006/main">
              <a:ext uri="{FF2B5EF4-FFF2-40B4-BE49-F238E27FC236}">
                <a16:creationId xmlns:a16="http://schemas.microsoft.com/office/drawing/2014/main" id="{652BF9C9-F12C-42B8-8E66-67235AC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004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safe state and on-device privacy</a:t>
            </a:r>
          </a:p>
        </p:txBody>
      </p:sp>
      <p:sp>
        <p:nvSpPr>
          <p:cNvPr id="16" name="promise-n-4">
            <a:extLst xmlns:a="http://schemas.openxmlformats.org/drawingml/2006/main">
              <a:ext uri="{FF2B5EF4-FFF2-40B4-BE49-F238E27FC236}">
                <a16:creationId xmlns:a16="http://schemas.microsoft.com/office/drawing/2014/main" id="{145D1838-3895-46F0-86D2-7F35EDF3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05</a:t>
            </a:r>
          </a:p>
        </p:txBody>
      </p:sp>
      <p:sp>
        <p:nvSpPr>
          <p:cNvPr id="17" name="promise-a-4">
            <a:extLst xmlns:a="http://schemas.openxmlformats.org/drawingml/2006/main">
              <a:ext uri="{FF2B5EF4-FFF2-40B4-BE49-F238E27FC236}">
                <a16:creationId xmlns:a16="http://schemas.microsoft.com/office/drawing/2014/main" id="{DEDB8D93-4643-445F-8FEF-08A7CA7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7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Supervise</a:t>
            </a:r>
          </a:p>
        </p:txBody>
      </p:sp>
      <p:sp>
        <p:nvSpPr>
          <p:cNvPr id="18" name="promise-b-4">
            <a:extLst xmlns:a="http://schemas.openxmlformats.org/drawingml/2006/main">
              <a:ext uri="{FF2B5EF4-FFF2-40B4-BE49-F238E27FC236}">
                <a16:creationId xmlns:a16="http://schemas.microsoft.com/office/drawing/2014/main" id="{6654CAE0-31F6-4569-AD5D-5BDA0590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76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human teaching and approval</a:t>
            </a:r>
          </a:p>
        </p:txBody>
      </p:sp>
      <p:sp>
        <p:nvSpPr>
          <p:cNvPr id="19" name="promise-n-5">
            <a:extLst xmlns:a="http://schemas.openxmlformats.org/drawingml/2006/main">
              <a:ext uri="{FF2B5EF4-FFF2-40B4-BE49-F238E27FC236}">
                <a16:creationId xmlns:a16="http://schemas.microsoft.com/office/drawing/2014/main" id="{0D2F3197-F222-4E86-BAFE-295F2EAC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06</a:t>
            </a:r>
          </a:p>
        </p:txBody>
      </p:sp>
      <p:sp>
        <p:nvSpPr>
          <p:cNvPr id="20" name="promise-a-5">
            <a:extLst xmlns:a="http://schemas.openxmlformats.org/drawingml/2006/main">
              <a:ext uri="{FF2B5EF4-FFF2-40B4-BE49-F238E27FC236}">
                <a16:creationId xmlns:a16="http://schemas.microsoft.com/office/drawing/2014/main" id="{07D78594-0853-469E-B556-054AAF5B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7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Diagnose</a:t>
            </a:r>
          </a:p>
        </p:txBody>
      </p:sp>
      <p:sp>
        <p:nvSpPr>
          <p:cNvPr id="21" name="promise-b-5">
            <a:extLst xmlns:a="http://schemas.openxmlformats.org/drawingml/2006/main">
              <a:ext uri="{FF2B5EF4-FFF2-40B4-BE49-F238E27FC236}">
                <a16:creationId xmlns:a16="http://schemas.microsoft.com/office/drawing/2014/main" id="{BF371C91-B5D4-48E5-AAA8-3E305F7A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76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world-induced failure</a:t>
            </a:r>
          </a:p>
        </p:txBody>
      </p:sp>
    </p:spTree>
    <p:extLst>
      <p:ext uri="{BB962C8B-B14F-4D97-AF65-F5344CB8AC3E}">
        <p14:creationId xmlns:p14="http://schemas.microsoft.com/office/powerpoint/2010/main" val="1957191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7">
            <a:extLst xmlns:a="http://schemas.openxmlformats.org/drawingml/2006/main">
              <a:ext uri="{FF2B5EF4-FFF2-40B4-BE49-F238E27FC236}">
                <a16:creationId xmlns:a16="http://schemas.microsoft.com/office/drawing/2014/main" id="{466F4F0B-F0AF-4D98-B9C0-DFB9963C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07</a:t>
            </a:r>
          </a:p>
        </p:txBody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F7C80418-5982-4EF3-BD89-FAD32AFE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CURRICULUM ARCHITECTURE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C233968F-2ABE-4E5E-AB0C-8DA9F04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Thirteen chapters. Six balanced parts.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092D430F-30C1-4C39-9C9E-9E327DDA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The sequence moves from the feedback constraint into delegated authority and a defended capstone.</a:t>
            </a:r>
          </a:p>
        </p:txBody>
      </p:sp>
      <p:sp>
        <p:nvSpPr>
          <p:cNvPr id="5" name="part-0">
            <a:extLst xmlns:a="http://schemas.openxmlformats.org/drawingml/2006/main">
              <a:ext uri="{FF2B5EF4-FFF2-40B4-BE49-F238E27FC236}">
                <a16:creationId xmlns:a16="http://schemas.microsoft.com/office/drawing/2014/main" id="{EB0D6BAB-2BE7-48EF-A4CD-EAC4AC1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rt-n-0">
            <a:extLst xmlns:a="http://schemas.openxmlformats.org/drawingml/2006/main">
              <a:ext uri="{FF2B5EF4-FFF2-40B4-BE49-F238E27FC236}">
                <a16:creationId xmlns:a16="http://schemas.microsoft.com/office/drawing/2014/main" id="{4CBD7F58-658C-4352-A9E5-A70599B0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B2A4A"/>
                </a:solidFill>
              </a:defRPr>
            </a:pPr>
            <a:r>
              <a:rPr sz="1050" b="1">
                <a:solidFill>
                  <a:srgbClr val="1B2A4A"/>
                </a:solidFill>
              </a:rPr>
              <a:t>I</a:t>
            </a:r>
          </a:p>
        </p:txBody>
      </p:sp>
      <p:sp>
        <p:nvSpPr>
          <p:cNvPr id="7" name="part-name-0">
            <a:extLst xmlns:a="http://schemas.openxmlformats.org/drawingml/2006/main">
              <a:ext uri="{FF2B5EF4-FFF2-40B4-BE49-F238E27FC236}">
                <a16:creationId xmlns:a16="http://schemas.microsoft.com/office/drawing/2014/main" id="{51AE57AA-AE80-4C4C-B271-D5643E22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145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THE DISCIPLINE</a:t>
            </a:r>
          </a:p>
        </p:txBody>
      </p:sp>
      <p:sp>
        <p:nvSpPr>
          <p:cNvPr id="8" name="part-count-0">
            <a:extLst xmlns:a="http://schemas.openxmlformats.org/drawingml/2006/main">
              <a:ext uri="{FF2B5EF4-FFF2-40B4-BE49-F238E27FC236}">
                <a16:creationId xmlns:a16="http://schemas.microsoft.com/office/drawing/2014/main" id="{6BF2C393-01DD-4374-B8CE-9597C7C7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2 chapters</a:t>
            </a:r>
          </a:p>
        </p:txBody>
      </p:sp>
      <p:sp>
        <p:nvSpPr>
          <p:cNvPr id="9" name="part-1">
            <a:extLst xmlns:a="http://schemas.openxmlformats.org/drawingml/2006/main">
              <a:ext uri="{FF2B5EF4-FFF2-40B4-BE49-F238E27FC236}">
                <a16:creationId xmlns:a16="http://schemas.microsoft.com/office/drawing/2014/main" id="{B439DCBD-F1DF-4597-AEDE-6BD0CB39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n-1">
            <a:extLst xmlns:a="http://schemas.openxmlformats.org/drawingml/2006/main">
              <a:ext uri="{FF2B5EF4-FFF2-40B4-BE49-F238E27FC236}">
                <a16:creationId xmlns:a16="http://schemas.microsoft.com/office/drawing/2014/main" id="{0AEB0018-74A1-4799-9DDA-654D26D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B2A4A"/>
                </a:solidFill>
              </a:defRPr>
            </a:pPr>
            <a:r>
              <a:rPr sz="1050" b="1">
                <a:solidFill>
                  <a:srgbClr val="1B2A4A"/>
                </a:solidFill>
              </a:rPr>
              <a:t>II</a:t>
            </a:r>
          </a:p>
        </p:txBody>
      </p:sp>
      <p:sp>
        <p:nvSpPr>
          <p:cNvPr id="11" name="part-name-1">
            <a:extLst xmlns:a="http://schemas.openxmlformats.org/drawingml/2006/main">
              <a:ext uri="{FF2B5EF4-FFF2-40B4-BE49-F238E27FC236}">
                <a16:creationId xmlns:a16="http://schemas.microsoft.com/office/drawing/2014/main" id="{B87483F3-BC2A-4595-B296-A991104E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432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MEASURING + RUNNING</a:t>
            </a:r>
          </a:p>
        </p:txBody>
      </p:sp>
      <p:sp>
        <p:nvSpPr>
          <p:cNvPr id="12" name="part-count-1">
            <a:extLst xmlns:a="http://schemas.openxmlformats.org/drawingml/2006/main">
              <a:ext uri="{FF2B5EF4-FFF2-40B4-BE49-F238E27FC236}">
                <a16:creationId xmlns:a16="http://schemas.microsoft.com/office/drawing/2014/main" id="{DCD9968E-6480-4EBC-ABC3-E769EC59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2 chapters</a:t>
            </a:r>
          </a:p>
        </p:txBody>
      </p:sp>
      <p:sp>
        <p:nvSpPr>
          <p:cNvPr id="13" name="part-2">
            <a:extLst xmlns:a="http://schemas.openxmlformats.org/drawingml/2006/main">
              <a:ext uri="{FF2B5EF4-FFF2-40B4-BE49-F238E27FC236}">
                <a16:creationId xmlns:a16="http://schemas.microsoft.com/office/drawing/2014/main" id="{04FA779D-F2FD-451C-AF65-B5A1638B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rt-n-2">
            <a:extLst xmlns:a="http://schemas.openxmlformats.org/drawingml/2006/main">
              <a:ext uri="{FF2B5EF4-FFF2-40B4-BE49-F238E27FC236}">
                <a16:creationId xmlns:a16="http://schemas.microsoft.com/office/drawing/2014/main" id="{3B31C537-941B-47E4-AA66-AB90785A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0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A999"/>
                </a:solidFill>
              </a:defRPr>
            </a:pPr>
            <a:r>
              <a:rPr sz="1050" b="1">
                <a:solidFill>
                  <a:srgbClr val="18A999"/>
                </a:solidFill>
              </a:rPr>
              <a:t>III</a:t>
            </a:r>
          </a:p>
        </p:txBody>
      </p:sp>
      <p:sp>
        <p:nvSpPr>
          <p:cNvPr id="15" name="part-name-2">
            <a:extLst xmlns:a="http://schemas.openxmlformats.org/drawingml/2006/main">
              <a:ext uri="{FF2B5EF4-FFF2-40B4-BE49-F238E27FC236}">
                <a16:creationId xmlns:a16="http://schemas.microsoft.com/office/drawing/2014/main" id="{D1682187-24C0-4FCF-B6DD-6E64994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718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CLOSING THE LOOP</a:t>
            </a:r>
          </a:p>
        </p:txBody>
      </p:sp>
      <p:sp>
        <p:nvSpPr>
          <p:cNvPr id="16" name="part-count-2">
            <a:extLst xmlns:a="http://schemas.openxmlformats.org/drawingml/2006/main">
              <a:ext uri="{FF2B5EF4-FFF2-40B4-BE49-F238E27FC236}">
                <a16:creationId xmlns:a16="http://schemas.microsoft.com/office/drawing/2014/main" id="{0A0664D2-488D-4AC6-8E68-D241C3CF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814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4 chapters</a:t>
            </a:r>
          </a:p>
        </p:txBody>
      </p:sp>
      <p:sp>
        <p:nvSpPr>
          <p:cNvPr id="17" name="part-3">
            <a:extLst xmlns:a="http://schemas.openxmlformats.org/drawingml/2006/main">
              <a:ext uri="{FF2B5EF4-FFF2-40B4-BE49-F238E27FC236}">
                <a16:creationId xmlns:a16="http://schemas.microsoft.com/office/drawing/2014/main" id="{E15BDA20-24FF-46CB-A010-BC394F5C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t-n-3">
            <a:extLst xmlns:a="http://schemas.openxmlformats.org/drawingml/2006/main">
              <a:ext uri="{FF2B5EF4-FFF2-40B4-BE49-F238E27FC236}">
                <a16:creationId xmlns:a16="http://schemas.microsoft.com/office/drawing/2014/main" id="{6C2D5895-BF86-45EB-BBE1-DB97569B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A999"/>
                </a:solidFill>
              </a:defRPr>
            </a:pPr>
            <a:r>
              <a:rPr sz="1050" b="1">
                <a:solidFill>
                  <a:srgbClr val="18A999"/>
                </a:solidFill>
              </a:rPr>
              <a:t>IV</a:t>
            </a:r>
          </a:p>
        </p:txBody>
      </p:sp>
      <p:sp>
        <p:nvSpPr>
          <p:cNvPr id="19" name="part-name-3">
            <a:extLst xmlns:a="http://schemas.openxmlformats.org/drawingml/2006/main">
              <a:ext uri="{FF2B5EF4-FFF2-40B4-BE49-F238E27FC236}">
                <a16:creationId xmlns:a16="http://schemas.microsoft.com/office/drawing/2014/main" id="{F77C8BB4-4259-4BA0-8AD8-9B202835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005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THE WHOLE SYSTEM</a:t>
            </a:r>
          </a:p>
        </p:txBody>
      </p:sp>
      <p:sp>
        <p:nvSpPr>
          <p:cNvPr id="20" name="part-count-3">
            <a:extLst xmlns:a="http://schemas.openxmlformats.org/drawingml/2006/main">
              <a:ext uri="{FF2B5EF4-FFF2-40B4-BE49-F238E27FC236}">
                <a16:creationId xmlns:a16="http://schemas.microsoft.com/office/drawing/2014/main" id="{23949B5C-B9E4-42D8-A88F-ED827C45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2 chapters</a:t>
            </a:r>
          </a:p>
        </p:txBody>
      </p:sp>
      <p:sp>
        <p:nvSpPr>
          <p:cNvPr id="21" name="part-4">
            <a:extLst xmlns:a="http://schemas.openxmlformats.org/drawingml/2006/main">
              <a:ext uri="{FF2B5EF4-FFF2-40B4-BE49-F238E27FC236}">
                <a16:creationId xmlns:a16="http://schemas.microsoft.com/office/drawing/2014/main" id="{4F68EFCD-71E3-4620-8F63-BD490850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A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rt-n-4">
            <a:extLst xmlns:a="http://schemas.openxmlformats.org/drawingml/2006/main">
              <a:ext uri="{FF2B5EF4-FFF2-40B4-BE49-F238E27FC236}">
                <a16:creationId xmlns:a16="http://schemas.microsoft.com/office/drawing/2014/main" id="{9F6B32B5-993D-4732-810C-02F923DE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482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0562B"/>
                </a:solidFill>
              </a:defRPr>
            </a:pPr>
            <a:r>
              <a:rPr sz="1050" b="1">
                <a:solidFill>
                  <a:srgbClr val="C0562B"/>
                </a:solidFill>
              </a:rPr>
              <a:t>V</a:t>
            </a:r>
          </a:p>
        </p:txBody>
      </p:sp>
      <p:sp>
        <p:nvSpPr>
          <p:cNvPr id="23" name="part-name-4">
            <a:extLst xmlns:a="http://schemas.openxmlformats.org/drawingml/2006/main">
              <a:ext uri="{FF2B5EF4-FFF2-40B4-BE49-F238E27FC236}">
                <a16:creationId xmlns:a16="http://schemas.microsoft.com/office/drawing/2014/main" id="{BE4FE9FE-FA5D-49AD-8DB3-A8BE3CDF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291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INTO A HOME</a:t>
            </a:r>
          </a:p>
        </p:txBody>
      </p:sp>
      <p:sp>
        <p:nvSpPr>
          <p:cNvPr id="24" name="part-count-4">
            <a:extLst xmlns:a="http://schemas.openxmlformats.org/drawingml/2006/main">
              <a:ext uri="{FF2B5EF4-FFF2-40B4-BE49-F238E27FC236}">
                <a16:creationId xmlns:a16="http://schemas.microsoft.com/office/drawing/2014/main" id="{BF96E44A-EF39-4DC4-ABAB-B4724566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387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2 chapters</a:t>
            </a:r>
          </a:p>
        </p:txBody>
      </p:sp>
      <p:sp>
        <p:nvSpPr>
          <p:cNvPr id="25" name="part-5">
            <a:extLst xmlns:a="http://schemas.openxmlformats.org/drawingml/2006/main">
              <a:ext uri="{FF2B5EF4-FFF2-40B4-BE49-F238E27FC236}">
                <a16:creationId xmlns:a16="http://schemas.microsoft.com/office/drawing/2014/main" id="{56CC8CD6-EB60-465E-8BBB-2BE9B393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BEA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n-5">
            <a:extLst xmlns:a="http://schemas.openxmlformats.org/drawingml/2006/main">
              <a:ext uri="{FF2B5EF4-FFF2-40B4-BE49-F238E27FC236}">
                <a16:creationId xmlns:a16="http://schemas.microsoft.com/office/drawing/2014/main" id="{EDEE4152-37E7-4C50-BD01-B060B030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76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8C1F"/>
                </a:solidFill>
              </a:defRPr>
            </a:pPr>
            <a:r>
              <a:rPr sz="1050" b="1">
                <a:solidFill>
                  <a:srgbClr val="D98C1F"/>
                </a:solidFill>
              </a:rPr>
              <a:t>VI</a:t>
            </a:r>
          </a:p>
        </p:txBody>
      </p:sp>
      <p:sp>
        <p:nvSpPr>
          <p:cNvPr id="27" name="part-name-5">
            <a:extLst xmlns:a="http://schemas.openxmlformats.org/drawingml/2006/main">
              <a:ext uri="{FF2B5EF4-FFF2-40B4-BE49-F238E27FC236}">
                <a16:creationId xmlns:a16="http://schemas.microsoft.com/office/drawing/2014/main" id="{B7BE5950-1770-471A-B7ED-2A8DC24E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578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DEFEND THE SYSTEM</a:t>
            </a:r>
          </a:p>
        </p:txBody>
      </p:sp>
      <p:sp>
        <p:nvSpPr>
          <p:cNvPr id="28" name="part-count-5">
            <a:extLst xmlns:a="http://schemas.openxmlformats.org/drawingml/2006/main">
              <a:ext uri="{FF2B5EF4-FFF2-40B4-BE49-F238E27FC236}">
                <a16:creationId xmlns:a16="http://schemas.microsoft.com/office/drawing/2014/main" id="{A5B19F23-F8E5-4FCF-9BF7-327BEE95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673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1 capstone</a:t>
            </a:r>
          </a:p>
        </p:txBody>
      </p:sp>
    </p:spTree>
    <p:extLst>
      <p:ext uri="{BB962C8B-B14F-4D97-AF65-F5344CB8AC3E}">
        <p14:creationId xmlns:p14="http://schemas.microsoft.com/office/powerpoint/2010/main" val="1761694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8">
            <a:extLst xmlns:a="http://schemas.openxmlformats.org/drawingml/2006/main">
              <a:ext uri="{FF2B5EF4-FFF2-40B4-BE49-F238E27FC236}">
                <a16:creationId xmlns:a16="http://schemas.microsoft.com/office/drawing/2014/main" id="{7DCA2E0C-8CA1-46B1-96B5-BBC8BEED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0CE"/>
                </a:solidFill>
              </a:defRPr>
            </a:pPr>
            <a:r>
              <a:rPr sz="825" b="1">
                <a:solidFill>
                  <a:srgbClr val="B8C0CE"/>
                </a:solidFill>
              </a:rPr>
              <a:t>08</a:t>
            </a:r>
          </a:p>
        </p:txBody>
      </p:sp>
      <p:sp>
        <p:nvSpPr>
          <p:cNvPr id="2" name="artifact-kicker">
            <a:extLst xmlns:a="http://schemas.openxmlformats.org/drawingml/2006/main">
              <a:ext uri="{FF2B5EF4-FFF2-40B4-BE49-F238E27FC236}">
                <a16:creationId xmlns:a16="http://schemas.microsoft.com/office/drawing/2014/main" id="{1B0F8B73-9C89-4B15-901E-61701F87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THE DELIVERY SYSTEM</a:t>
            </a:r>
          </a:p>
        </p:txBody>
      </p:sp>
      <p:sp>
        <p:nvSpPr>
          <p:cNvPr id="3" name="artifact-title">
            <a:extLst xmlns:a="http://schemas.openxmlformats.org/drawingml/2006/main">
              <a:ext uri="{FF2B5EF4-FFF2-40B4-BE49-F238E27FC236}">
                <a16:creationId xmlns:a16="http://schemas.microsoft.com/office/drawing/2014/main" id="{E110C2A4-740B-4140-B802-6DA60CE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Two artifacts. Evidence in every lab.</a:t>
            </a:r>
          </a:p>
        </p:txBody>
      </p:sp>
      <p:sp>
        <p:nvSpPr>
          <p:cNvPr id="4" name="artifact-accent-0">
            <a:extLst xmlns:a="http://schemas.openxmlformats.org/drawingml/2006/main">
              <a:ext uri="{FF2B5EF4-FFF2-40B4-BE49-F238E27FC236}">
                <a16:creationId xmlns:a16="http://schemas.microsoft.com/office/drawing/2014/main" id="{E1033B9A-1245-45CC-9B35-59007A09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C0562B"/>
            </a:solidFill>
            <a:prstDash val="solid"/>
          </a:ln>
        </p:spPr>
      </p:sp>
      <p:sp>
        <p:nvSpPr>
          <p:cNvPr id="5" name="artifact-h-0">
            <a:extLst xmlns:a="http://schemas.openxmlformats.org/drawingml/2006/main">
              <a:ext uri="{FF2B5EF4-FFF2-40B4-BE49-F238E27FC236}">
                <a16:creationId xmlns:a16="http://schemas.microsoft.com/office/drawing/2014/main" id="{0B6E649B-6C81-4F07-B6F1-E9A7A269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REACHY</a:t>
            </a:r>
          </a:p>
        </p:txBody>
      </p:sp>
      <p:sp>
        <p:nvSpPr>
          <p:cNvPr id="6" name="artifact-k-0">
            <a:extLst xmlns:a="http://schemas.openxmlformats.org/drawingml/2006/main">
              <a:ext uri="{FF2B5EF4-FFF2-40B4-BE49-F238E27FC236}">
                <a16:creationId xmlns:a16="http://schemas.microsoft.com/office/drawing/2014/main" id="{79EF57EB-B901-45D7-9413-5C676965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0562B"/>
                </a:solidFill>
              </a:defRPr>
            </a:pPr>
            <a:r>
              <a:rPr sz="1500" b="1">
                <a:solidFill>
                  <a:srgbClr val="C0562B"/>
                </a:solidFill>
              </a:rPr>
              <a:t>makes consequence felt</a:t>
            </a:r>
          </a:p>
        </p:txBody>
      </p:sp>
      <p:sp>
        <p:nvSpPr>
          <p:cNvPr id="7" name="artifact-b-0">
            <a:extLst xmlns:a="http://schemas.openxmlformats.org/drawingml/2006/main">
              <a:ext uri="{FF2B5EF4-FFF2-40B4-BE49-F238E27FC236}">
                <a16:creationId xmlns:a16="http://schemas.microsoft.com/office/drawing/2014/main" id="{7078903A-7D6F-468E-B437-13183AB1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C5CDDA"/>
                </a:solidFill>
              </a:defRPr>
            </a:pPr>
            <a:r>
              <a:rPr sz="1350" b="0">
                <a:solidFill>
                  <a:srgbClr val="C5CDDA"/>
                </a:solidFill>
              </a:rPr>
              <a:t>The scene, stakes, and honest system limits.</a:t>
            </a:r>
          </a:p>
        </p:txBody>
      </p:sp>
      <p:sp>
        <p:nvSpPr>
          <p:cNvPr id="8" name="artifact-accent-1">
            <a:extLst xmlns:a="http://schemas.openxmlformats.org/drawingml/2006/main">
              <a:ext uri="{FF2B5EF4-FFF2-40B4-BE49-F238E27FC236}">
                <a16:creationId xmlns:a16="http://schemas.microsoft.com/office/drawing/2014/main" id="{41829F5B-223F-4327-825F-3FA205BD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8A999"/>
            </a:solidFill>
            <a:prstDash val="solid"/>
          </a:ln>
        </p:spPr>
      </p:sp>
      <p:sp>
        <p:nvSpPr>
          <p:cNvPr id="9" name="artifact-h-1">
            <a:extLst xmlns:a="http://schemas.openxmlformats.org/drawingml/2006/main">
              <a:ext uri="{FF2B5EF4-FFF2-40B4-BE49-F238E27FC236}">
                <a16:creationId xmlns:a16="http://schemas.microsoft.com/office/drawing/2014/main" id="{C3588F86-8051-4F36-ABBE-FC9830C2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UNO Q</a:t>
            </a:r>
          </a:p>
        </p:txBody>
      </p:sp>
      <p:sp>
        <p:nvSpPr>
          <p:cNvPr id="10" name="artifact-k-1">
            <a:extLst xmlns:a="http://schemas.openxmlformats.org/drawingml/2006/main">
              <a:ext uri="{FF2B5EF4-FFF2-40B4-BE49-F238E27FC236}">
                <a16:creationId xmlns:a16="http://schemas.microsoft.com/office/drawing/2014/main" id="{1AAE1E9D-76ED-4480-91D7-96AB2775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makes mechanism reproducible</a:t>
            </a:r>
          </a:p>
        </p:txBody>
      </p:sp>
      <p:sp>
        <p:nvSpPr>
          <p:cNvPr id="11" name="artifact-b-1">
            <a:extLst xmlns:a="http://schemas.openxmlformats.org/drawingml/2006/main">
              <a:ext uri="{FF2B5EF4-FFF2-40B4-BE49-F238E27FC236}">
                <a16:creationId xmlns:a16="http://schemas.microsoft.com/office/drawing/2014/main" id="{A6EFDDEF-833A-4D61-A7AC-B9DFB883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C5CDDA"/>
                </a:solidFill>
              </a:defRPr>
            </a:pPr>
            <a:r>
              <a:rPr sz="1350" b="0">
                <a:solidFill>
                  <a:srgbClr val="C5CDDA"/>
                </a:solidFill>
              </a:rPr>
              <a:t>One board exposes the MPU–MCU handoff.</a:t>
            </a:r>
          </a:p>
        </p:txBody>
      </p:sp>
      <p:sp>
        <p:nvSpPr>
          <p:cNvPr id="12" name="artifact-accent-2">
            <a:extLst xmlns:a="http://schemas.openxmlformats.org/drawingml/2006/main">
              <a:ext uri="{FF2B5EF4-FFF2-40B4-BE49-F238E27FC236}">
                <a16:creationId xmlns:a16="http://schemas.microsoft.com/office/drawing/2014/main" id="{4B9194A9-443E-4669-8EE8-CB86F8B4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98C1F"/>
            </a:solidFill>
            <a:prstDash val="solid"/>
          </a:ln>
        </p:spPr>
      </p:sp>
      <p:sp>
        <p:nvSpPr>
          <p:cNvPr id="13" name="artifact-h-2">
            <a:extLst xmlns:a="http://schemas.openxmlformats.org/drawingml/2006/main">
              <a:ext uri="{FF2B5EF4-FFF2-40B4-BE49-F238E27FC236}">
                <a16:creationId xmlns:a16="http://schemas.microsoft.com/office/drawing/2014/main" id="{9105D2FA-3440-40FD-A3A7-63125A1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4" name="artifact-k-2">
            <a:extLst xmlns:a="http://schemas.openxmlformats.org/drawingml/2006/main">
              <a:ext uri="{FF2B5EF4-FFF2-40B4-BE49-F238E27FC236}">
                <a16:creationId xmlns:a16="http://schemas.microsoft.com/office/drawing/2014/main" id="{6DACFA87-CFE0-4B08-B89F-508B0995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98C1F"/>
                </a:solidFill>
              </a:defRPr>
            </a:pPr>
            <a:r>
              <a:rPr sz="1500" b="1">
                <a:solidFill>
                  <a:srgbClr val="D98C1F"/>
                </a:solidFill>
              </a:rPr>
              <a:t>makes decisions inspectable</a:t>
            </a:r>
          </a:p>
        </p:txBody>
      </p:sp>
      <p:sp>
        <p:nvSpPr>
          <p:cNvPr id="15" name="artifact-b-2">
            <a:extLst xmlns:a="http://schemas.openxmlformats.org/drawingml/2006/main">
              <a:ext uri="{FF2B5EF4-FFF2-40B4-BE49-F238E27FC236}">
                <a16:creationId xmlns:a16="http://schemas.microsoft.com/office/drawing/2014/main" id="{D83A259D-4AC3-4437-930B-409089DD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C5CDDA"/>
                </a:solidFill>
              </a:defRPr>
            </a:pPr>
            <a:r>
              <a:rPr sz="1350" b="0">
                <a:solidFill>
                  <a:srgbClr val="C5CDDA"/>
                </a:solidFill>
              </a:rPr>
              <a:t>Every lab records its setup, uncertainty, result, and decision.</a:t>
            </a:r>
          </a:p>
        </p:txBody>
      </p:sp>
      <p:sp>
        <p:nvSpPr>
          <p:cNvPr id="16" name="artifact-bottom">
            <a:extLst xmlns:a="http://schemas.openxmlformats.org/drawingml/2006/main">
              <a:ext uri="{FF2B5EF4-FFF2-40B4-BE49-F238E27FC236}">
                <a16:creationId xmlns:a16="http://schemas.microsoft.com/office/drawing/2014/main" id="{A2B34497-0950-40C2-A930-EDB6A3FA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388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Measurement stays inside the work.</a:t>
            </a:r>
          </a:p>
        </p:txBody>
      </p:sp>
    </p:spTree>
    <p:extLst>
      <p:ext uri="{BB962C8B-B14F-4D97-AF65-F5344CB8AC3E}">
        <p14:creationId xmlns:p14="http://schemas.microsoft.com/office/powerpoint/2010/main" val="583107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9">
            <a:extLst xmlns:a="http://schemas.openxmlformats.org/drawingml/2006/main">
              <a:ext uri="{FF2B5EF4-FFF2-40B4-BE49-F238E27FC236}">
                <a16:creationId xmlns:a16="http://schemas.microsoft.com/office/drawing/2014/main" id="{8C69ECAA-A353-45C8-9E7C-8CBE66CD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09</a:t>
            </a:r>
          </a:p>
        </p:txBody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F1CB71AF-B991-4466-80E7-444E0EA8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REFERENCE ARCHITECTURE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BF2174C1-5553-48A3-B384-CDEF313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UNO Q makes the boundary teachable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255A6DEA-548B-4344-A695-10DD1DF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The board already places high-level computing and real-time control in separate processing domains.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aa336610346d0"/>
          <a:stretch xmlns:a="http://schemas.openxmlformats.org/drawingml/2006/main"/>
        </p:blipFill>
        <p:spPr>
          <a:xfrm xmlns:a="http://schemas.openxmlformats.org/drawingml/2006/main">
            <a:off x="6609698" y="2095500"/>
            <a:ext cx="4687604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uno-mpu-label">
            <a:extLst xmlns:a="http://schemas.openxmlformats.org/drawingml/2006/main">
              <a:ext uri="{FF2B5EF4-FFF2-40B4-BE49-F238E27FC236}">
                <a16:creationId xmlns:a16="http://schemas.microsoft.com/office/drawing/2014/main" id="{B81676FA-31AA-485E-85B2-EBD09504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2A4A"/>
                </a:solidFill>
              </a:defRPr>
            </a:pPr>
            <a:r>
              <a:rPr sz="1275" b="1">
                <a:solidFill>
                  <a:srgbClr val="1B2A4A"/>
                </a:solidFill>
              </a:rPr>
              <a:t>MPU</a:t>
            </a:r>
          </a:p>
        </p:txBody>
      </p:sp>
      <p:sp>
        <p:nvSpPr>
          <p:cNvPr id="7" name="uno-mpu-name">
            <a:extLst xmlns:a="http://schemas.openxmlformats.org/drawingml/2006/main">
              <a:ext uri="{FF2B5EF4-FFF2-40B4-BE49-F238E27FC236}">
                <a16:creationId xmlns:a16="http://schemas.microsoft.com/office/drawing/2014/main" id="{36F00CB0-4D11-4075-AE86-7A1E886D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B2A4A"/>
                </a:solidFill>
              </a:defRPr>
            </a:pPr>
            <a:r>
              <a:rPr sz="2175" b="1">
                <a:solidFill>
                  <a:srgbClr val="1B2A4A"/>
                </a:solidFill>
              </a:rPr>
              <a:t>Qualcomm Dragonwing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B2A4A"/>
                </a:solidFill>
              </a:defRPr>
            </a:pPr>
            <a:r>
              <a:rPr sz="2175" b="1">
                <a:solidFill>
                  <a:srgbClr val="1B2A4A"/>
                </a:solidFill>
              </a:rPr>
              <a:t>QRB2210</a:t>
            </a:r>
          </a:p>
        </p:txBody>
      </p:sp>
      <p:sp>
        <p:nvSpPr>
          <p:cNvPr id="8" name="uno-mpu-role">
            <a:extLst xmlns:a="http://schemas.openxmlformats.org/drawingml/2006/main">
              <a:ext uri="{FF2B5EF4-FFF2-40B4-BE49-F238E27FC236}">
                <a16:creationId xmlns:a16="http://schemas.microsoft.com/office/drawing/2014/main" id="{A4A8952C-DF71-4389-A0B5-E7D26FDE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Debian Linux · perception · reasoning · services</a:t>
            </a:r>
          </a:p>
        </p:txBody>
      </p:sp>
      <p:sp>
        <p:nvSpPr>
          <p:cNvPr id="9" name="uno-separator">
            <a:extLst xmlns:a="http://schemas.openxmlformats.org/drawingml/2006/main">
              <a:ext uri="{FF2B5EF4-FFF2-40B4-BE49-F238E27FC236}">
                <a16:creationId xmlns:a16="http://schemas.microsoft.com/office/drawing/2014/main" id="{510931B7-22FB-46F7-8DFF-9B963D2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3B0"/>
            </a:solidFill>
            <a:prstDash val="solid"/>
          </a:ln>
        </p:spPr>
      </p:sp>
      <p:sp>
        <p:nvSpPr>
          <p:cNvPr id="10" name="uno-mcu-label">
            <a:extLst xmlns:a="http://schemas.openxmlformats.org/drawingml/2006/main">
              <a:ext uri="{FF2B5EF4-FFF2-40B4-BE49-F238E27FC236}">
                <a16:creationId xmlns:a16="http://schemas.microsoft.com/office/drawing/2014/main" id="{1BB33721-5824-4A50-AC9A-00821495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MCU</a:t>
            </a:r>
          </a:p>
        </p:txBody>
      </p:sp>
      <p:sp>
        <p:nvSpPr>
          <p:cNvPr id="11" name="uno-mcu-name">
            <a:extLst xmlns:a="http://schemas.openxmlformats.org/drawingml/2006/main">
              <a:ext uri="{FF2B5EF4-FFF2-40B4-BE49-F238E27FC236}">
                <a16:creationId xmlns:a16="http://schemas.microsoft.com/office/drawing/2014/main" id="{9105C60A-71D5-4D17-8C87-C2B8C6A4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A999"/>
                </a:solidFill>
              </a:defRPr>
            </a:pPr>
            <a:r>
              <a:rPr sz="2175" b="1">
                <a:solidFill>
                  <a:srgbClr val="18A999"/>
                </a:solidFill>
              </a:rPr>
              <a:t>STM32U585</a:t>
            </a:r>
          </a:p>
        </p:txBody>
      </p:sp>
      <p:sp>
        <p:nvSpPr>
          <p:cNvPr id="12" name="uno-mcu-role">
            <a:extLst xmlns:a="http://schemas.openxmlformats.org/drawingml/2006/main">
              <a:ext uri="{FF2B5EF4-FFF2-40B4-BE49-F238E27FC236}">
                <a16:creationId xmlns:a16="http://schemas.microsoft.com/office/drawing/2014/main" id="{1B7109F6-681D-410F-B5BB-11D566E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Arduino Core on Zephyr · real-time I/O</a:t>
            </a:r>
          </a:p>
        </p:txBody>
      </p:sp>
      <p:sp>
        <p:nvSpPr>
          <p:cNvPr id="13" name="source-9">
            <a:extLst xmlns:a="http://schemas.openxmlformats.org/drawingml/2006/main">
              <a:ext uri="{FF2B5EF4-FFF2-40B4-BE49-F238E27FC236}">
                <a16:creationId xmlns:a16="http://schemas.microsoft.com/office/drawing/2014/main" id="{4439027D-E453-498E-9646-305A554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386"/>
                </a:solidFill>
              </a:defRPr>
            </a:pPr>
            <a:r>
              <a:rPr sz="675" b="0">
                <a:solidFill>
                  <a:srgbClr val="687386"/>
                </a:solidFill>
              </a:rPr>
              <a:t>Sources: Arduino UNO Q documentation and user manual; Qualcomm UNO Q developer page.</a:t>
            </a:r>
          </a:p>
        </p:txBody>
      </p:sp>
    </p:spTree>
    <p:extLst>
      <p:ext uri="{BB962C8B-B14F-4D97-AF65-F5344CB8AC3E}">
        <p14:creationId xmlns:p14="http://schemas.microsoft.com/office/powerpoint/2010/main" val="1480205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0">
            <a:extLst xmlns:a="http://schemas.openxmlformats.org/drawingml/2006/main">
              <a:ext uri="{FF2B5EF4-FFF2-40B4-BE49-F238E27FC236}">
                <a16:creationId xmlns:a16="http://schemas.microsoft.com/office/drawing/2014/main" id="{3A9FD87F-0858-4B98-BA8A-7FF29BE1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10</a:t>
            </a:r>
          </a:p>
        </p:txBody>
      </p:sp>
      <p:sp>
        <p:nvSpPr>
          <p:cNvPr id="2" name="eyebrow-10">
            <a:extLst xmlns:a="http://schemas.openxmlformats.org/drawingml/2006/main">
              <a:ext uri="{FF2B5EF4-FFF2-40B4-BE49-F238E27FC236}">
                <a16:creationId xmlns:a16="http://schemas.microsoft.com/office/drawing/2014/main" id="{75FF992D-53E1-4804-95DF-D8244065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PEDAGOGICAL INVARIANT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D1526F87-E627-4D4A-9915-01EDC13E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Every lab ends in a decision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1C869761-21AC-4CF1-9882-73A56D0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A visible effect recruits attention. Measurement disciplines it. The decision turns evidence into engineering.</a:t>
            </a:r>
          </a:p>
        </p:txBody>
      </p:sp>
      <p:sp>
        <p:nvSpPr>
          <p:cNvPr id="5" name="lab-flow-1">
            <a:extLst xmlns:a="http://schemas.openxmlformats.org/drawingml/2006/main">
              <a:ext uri="{FF2B5EF4-FFF2-40B4-BE49-F238E27FC236}">
                <a16:creationId xmlns:a16="http://schemas.microsoft.com/office/drawing/2014/main" id="{E32D51DD-00DD-4D23-BD30-02D75A4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29000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3B0"/>
            </a:solidFill>
            <a:prstDash val="solid"/>
          </a:ln>
        </p:spPr>
      </p:sp>
      <p:sp>
        <p:nvSpPr>
          <p:cNvPr id="6" name="lab-flow-2">
            <a:extLst xmlns:a="http://schemas.openxmlformats.org/drawingml/2006/main">
              <a:ext uri="{FF2B5EF4-FFF2-40B4-BE49-F238E27FC236}">
                <a16:creationId xmlns:a16="http://schemas.microsoft.com/office/drawing/2014/main" id="{872439BA-3534-4B6B-8440-D49C6267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29000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3B0"/>
            </a:solidFill>
            <a:prstDash val="solid"/>
          </a:ln>
        </p:spPr>
      </p:sp>
      <p:sp>
        <p:nvSpPr>
          <p:cNvPr id="7" name="lab-arrow-1">
            <a:extLst xmlns:a="http://schemas.openxmlformats.org/drawingml/2006/main">
              <a:ext uri="{FF2B5EF4-FFF2-40B4-BE49-F238E27FC236}">
                <a16:creationId xmlns:a16="http://schemas.microsoft.com/office/drawing/2014/main" id="{09C834FE-0571-428D-86D3-86A9ED90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5277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C0562B"/>
                </a:solidFill>
              </a:defRPr>
            </a:pPr>
            <a:r>
              <a:rPr sz="2400" b="0">
                <a:solidFill>
                  <a:srgbClr val="C0562B"/>
                </a:solidFill>
              </a:rPr>
              <a:t>→</a:t>
            </a:r>
          </a:p>
        </p:txBody>
      </p:sp>
      <p:sp>
        <p:nvSpPr>
          <p:cNvPr id="8" name="lab-arrow-2">
            <a:extLst xmlns:a="http://schemas.openxmlformats.org/drawingml/2006/main">
              <a:ext uri="{FF2B5EF4-FFF2-40B4-BE49-F238E27FC236}">
                <a16:creationId xmlns:a16="http://schemas.microsoft.com/office/drawing/2014/main" id="{3C5048AC-5F0A-4E7F-A618-B770077F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5277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18A999"/>
                </a:solidFill>
              </a:defRPr>
            </a:pPr>
            <a:r>
              <a:rPr sz="2400" b="0">
                <a:solidFill>
                  <a:srgbClr val="18A999"/>
                </a:solidFill>
              </a:rPr>
              <a:t>→</a:t>
            </a:r>
          </a:p>
        </p:txBody>
      </p:sp>
      <p:sp>
        <p:nvSpPr>
          <p:cNvPr id="9" name="lab-step-0">
            <a:extLst xmlns:a="http://schemas.openxmlformats.org/drawingml/2006/main">
              <a:ext uri="{FF2B5EF4-FFF2-40B4-BE49-F238E27FC236}">
                <a16:creationId xmlns:a16="http://schemas.microsoft.com/office/drawing/2014/main" id="{4CC0B1E1-89AD-4A53-A9E9-34425C01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E9E2"/>
          </a:solidFill>
          <a:ln xmlns:a="http://schemas.openxmlformats.org/drawingml/2006/main" w="19050">
            <a:solidFill>
              <a:srgbClr val="C0562B"/>
            </a:solidFill>
            <a:prstDash val="solid"/>
          </a:ln>
        </p:spPr>
      </p:sp>
      <p:sp>
        <p:nvSpPr>
          <p:cNvPr id="10" name="lab-n-0">
            <a:extLst xmlns:a="http://schemas.openxmlformats.org/drawingml/2006/main">
              <a:ext uri="{FF2B5EF4-FFF2-40B4-BE49-F238E27FC236}">
                <a16:creationId xmlns:a16="http://schemas.microsoft.com/office/drawing/2014/main" id="{FC1B4A8F-2155-4340-AFA7-258F23E7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01</a:t>
            </a:r>
          </a:p>
        </p:txBody>
      </p:sp>
      <p:sp>
        <p:nvSpPr>
          <p:cNvPr id="11" name="lab-h-0">
            <a:extLst xmlns:a="http://schemas.openxmlformats.org/drawingml/2006/main">
              <a:ext uri="{FF2B5EF4-FFF2-40B4-BE49-F238E27FC236}">
                <a16:creationId xmlns:a16="http://schemas.microsoft.com/office/drawing/2014/main" id="{F5E04983-1A14-4A80-8CC5-CA2EB6D0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0562B"/>
                </a:solidFill>
              </a:defRPr>
            </a:pPr>
            <a:r>
              <a:rPr sz="1500" b="1">
                <a:solidFill>
                  <a:srgbClr val="C0562B"/>
                </a:solidFill>
              </a:rPr>
              <a:t>VISIBLE SIGNAL</a:t>
            </a:r>
          </a:p>
        </p:txBody>
      </p:sp>
      <p:sp>
        <p:nvSpPr>
          <p:cNvPr id="12" name="lab-b-0">
            <a:extLst xmlns:a="http://schemas.openxmlformats.org/drawingml/2006/main">
              <a:ext uri="{FF2B5EF4-FFF2-40B4-BE49-F238E27FC236}">
                <a16:creationId xmlns:a16="http://schemas.microsoft.com/office/drawing/2014/main" id="{3C4377D1-DD40-42A5-9E70-89EC65D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Make an invisible property physically observable.</a:t>
            </a:r>
          </a:p>
        </p:txBody>
      </p:sp>
      <p:sp>
        <p:nvSpPr>
          <p:cNvPr id="13" name="lab-step-1">
            <a:extLst xmlns:a="http://schemas.openxmlformats.org/drawingml/2006/main">
              <a:ext uri="{FF2B5EF4-FFF2-40B4-BE49-F238E27FC236}">
                <a16:creationId xmlns:a16="http://schemas.microsoft.com/office/drawing/2014/main" id="{8C7A99DE-D1E3-4AAC-8968-7890A605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14600"/>
            <a:ext cx="3143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14" name="lab-n-1">
            <a:extLst xmlns:a="http://schemas.openxmlformats.org/drawingml/2006/main">
              <a:ext uri="{FF2B5EF4-FFF2-40B4-BE49-F238E27FC236}">
                <a16:creationId xmlns:a16="http://schemas.microsoft.com/office/drawing/2014/main" id="{14234706-9395-4D26-A482-ACE3A8FB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4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2A4A"/>
                </a:solidFill>
              </a:defRPr>
            </a:pPr>
            <a:r>
              <a:rPr sz="975" b="1">
                <a:solidFill>
                  <a:srgbClr val="1B2A4A"/>
                </a:solidFill>
              </a:rPr>
              <a:t>02</a:t>
            </a:r>
          </a:p>
        </p:txBody>
      </p:sp>
      <p:sp>
        <p:nvSpPr>
          <p:cNvPr id="15" name="lab-h-1">
            <a:extLst xmlns:a="http://schemas.openxmlformats.org/drawingml/2006/main">
              <a:ext uri="{FF2B5EF4-FFF2-40B4-BE49-F238E27FC236}">
                <a16:creationId xmlns:a16="http://schemas.microsoft.com/office/drawing/2014/main" id="{388936EF-4A5F-42E6-9733-65051233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432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DEFENSIBLE NUMBER</a:t>
            </a:r>
          </a:p>
        </p:txBody>
      </p:sp>
      <p:sp>
        <p:nvSpPr>
          <p:cNvPr id="16" name="lab-b-1">
            <a:extLst xmlns:a="http://schemas.openxmlformats.org/drawingml/2006/main">
              <a:ext uri="{FF2B5EF4-FFF2-40B4-BE49-F238E27FC236}">
                <a16:creationId xmlns:a16="http://schemas.microsoft.com/office/drawing/2014/main" id="{A95C3719-B7E2-4D04-8FFA-28B3E04E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290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Define, calibrate, measure, and report uncertainty.</a:t>
            </a:r>
          </a:p>
        </p:txBody>
      </p:sp>
      <p:sp>
        <p:nvSpPr>
          <p:cNvPr id="17" name="lab-step-2">
            <a:extLst xmlns:a="http://schemas.openxmlformats.org/drawingml/2006/main">
              <a:ext uri="{FF2B5EF4-FFF2-40B4-BE49-F238E27FC236}">
                <a16:creationId xmlns:a16="http://schemas.microsoft.com/office/drawing/2014/main" id="{9D550235-E400-4AAC-8F21-88029212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3143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19050">
            <a:solidFill>
              <a:srgbClr val="18A999"/>
            </a:solidFill>
            <a:prstDash val="solid"/>
          </a:ln>
        </p:spPr>
      </p:sp>
      <p:sp>
        <p:nvSpPr>
          <p:cNvPr id="18" name="lab-n-2">
            <a:extLst xmlns:a="http://schemas.openxmlformats.org/drawingml/2006/main">
              <a:ext uri="{FF2B5EF4-FFF2-40B4-BE49-F238E27FC236}">
                <a16:creationId xmlns:a16="http://schemas.microsoft.com/office/drawing/2014/main" id="{ED87369E-D88C-4360-86E9-1CA5F91A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03</a:t>
            </a:r>
          </a:p>
        </p:txBody>
      </p:sp>
      <p:sp>
        <p:nvSpPr>
          <p:cNvPr id="19" name="lab-h-2">
            <a:extLst xmlns:a="http://schemas.openxmlformats.org/drawingml/2006/main">
              <a:ext uri="{FF2B5EF4-FFF2-40B4-BE49-F238E27FC236}">
                <a16:creationId xmlns:a16="http://schemas.microsoft.com/office/drawing/2014/main" id="{09981DCF-2718-4C59-B4EB-F985C731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ENGINEERING DECISION</a:t>
            </a:r>
          </a:p>
        </p:txBody>
      </p:sp>
      <p:sp>
        <p:nvSpPr>
          <p:cNvPr id="20" name="lab-b-2">
            <a:extLst xmlns:a="http://schemas.openxmlformats.org/drawingml/2006/main">
              <a:ext uri="{FF2B5EF4-FFF2-40B4-BE49-F238E27FC236}">
                <a16:creationId xmlns:a16="http://schemas.microsoft.com/office/drawing/2014/main" id="{2104F111-E824-46C5-9DEA-B6FDBA51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290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Keep, reject, or re-place part of the system.</a:t>
            </a:r>
          </a:p>
        </p:txBody>
      </p:sp>
      <p:sp>
        <p:nvSpPr>
          <p:cNvPr id="21" name="lab-bottom">
            <a:extLst xmlns:a="http://schemas.openxmlformats.org/drawingml/2006/main">
              <a:ext uri="{FF2B5EF4-FFF2-40B4-BE49-F238E27FC236}">
                <a16:creationId xmlns:a16="http://schemas.microsoft.com/office/drawing/2014/main" id="{2B27C47A-323F-4EEB-AC07-896D50F3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911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B2A4A"/>
                </a:solidFill>
              </a:defRPr>
            </a:pPr>
            <a:r>
              <a:rPr sz="1725" b="1">
                <a:solidFill>
                  <a:srgbClr val="1B2A4A"/>
                </a:solidFill>
              </a:rPr>
              <a:t>The lab is not complete when the code runs.</a:t>
            </a:r>
          </a:p>
        </p:txBody>
      </p:sp>
    </p:spTree>
    <p:extLst>
      <p:ext uri="{BB962C8B-B14F-4D97-AF65-F5344CB8AC3E}">
        <p14:creationId xmlns:p14="http://schemas.microsoft.com/office/powerpoint/2010/main" val="461793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1">
            <a:extLst xmlns:a="http://schemas.openxmlformats.org/drawingml/2006/main">
              <a:ext uri="{FF2B5EF4-FFF2-40B4-BE49-F238E27FC236}">
                <a16:creationId xmlns:a16="http://schemas.microsoft.com/office/drawing/2014/main" id="{07E41077-05FC-4874-AD05-6A7E72A1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11</a:t>
            </a:r>
          </a:p>
        </p:txBody>
      </p:sp>
      <p:sp>
        <p:nvSpPr>
          <p:cNvPr id="2" name="chip-kicker">
            <a:extLst xmlns:a="http://schemas.openxmlformats.org/drawingml/2006/main">
              <a:ext uri="{FF2B5EF4-FFF2-40B4-BE49-F238E27FC236}">
                <a16:creationId xmlns:a16="http://schemas.microsoft.com/office/drawing/2014/main" id="{8094B77E-2BA0-4AD5-99E7-CC7EBE58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0562B"/>
                </a:solidFill>
              </a:defRPr>
            </a:pPr>
            <a:r>
              <a:rPr sz="900" b="1">
                <a:solidFill>
                  <a:srgbClr val="C0562B"/>
                </a:solidFill>
              </a:rPr>
              <a:t>FLAGSHIP DEMONSTRATION</a:t>
            </a:r>
          </a:p>
        </p:txBody>
      </p:sp>
      <p:sp>
        <p:nvSpPr>
          <p:cNvPr id="3" name="chip-slide-title">
            <a:extLst xmlns:a="http://schemas.openxmlformats.org/drawingml/2006/main">
              <a:ext uri="{FF2B5EF4-FFF2-40B4-BE49-F238E27FC236}">
                <a16:creationId xmlns:a16="http://schemas.microsoft.com/office/drawing/2014/main" id="{19788009-74F4-48B5-9F7C-66B0F6ED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A proposal is not an action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86e60a198400a"/>
          <a:stretch xmlns:a="http://schemas.openxmlformats.org/drawingml/2006/main"/>
        </p:blipFill>
        <p:spPr>
          <a:xfrm xmlns:a="http://schemas.openxmlformats.org/drawingml/2006/main">
            <a:off x="1714500" y="1009650"/>
            <a:ext cx="8763000" cy="5257800"/>
          </a:xfrm>
          <a:prstGeom xmlns:a="http://schemas.openxmlformats.org/drawingml/2006/main" prst="rect">
            <a:avLst/>
          </a:prstGeom>
        </p:spPr>
      </p:pic>
      <p:sp>
        <p:nvSpPr>
          <p:cNvPr id="5" name="source-11">
            <a:extLst xmlns:a="http://schemas.openxmlformats.org/drawingml/2006/main">
              <a:ext uri="{FF2B5EF4-FFF2-40B4-BE49-F238E27FC236}">
                <a16:creationId xmlns:a16="http://schemas.microsoft.com/office/drawing/2014/main" id="{8609117F-AEDD-459B-AA47-643E8910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386"/>
                </a:solidFill>
              </a:defRPr>
            </a:pPr>
            <a:r>
              <a:rPr sz="675" b="0">
                <a:solidFill>
                  <a:srgbClr val="687386"/>
                </a:solidFill>
              </a:rPr>
              <a:t>Teaching implementation. No benchmark result is asserted; veto latency is measured in the lab.</a:t>
            </a:r>
          </a:p>
        </p:txBody>
      </p:sp>
    </p:spTree>
    <p:extLst>
      <p:ext uri="{BB962C8B-B14F-4D97-AF65-F5344CB8AC3E}">
        <p14:creationId xmlns:p14="http://schemas.microsoft.com/office/powerpoint/2010/main" val="21086438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2">
            <a:extLst xmlns:a="http://schemas.openxmlformats.org/drawingml/2006/main">
              <a:ext uri="{FF2B5EF4-FFF2-40B4-BE49-F238E27FC236}">
                <a16:creationId xmlns:a16="http://schemas.microsoft.com/office/drawing/2014/main" id="{09669CEE-8F3B-4DF4-A8A7-A4365B45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0CE"/>
                </a:solidFill>
              </a:defRPr>
            </a:pPr>
            <a:r>
              <a:rPr sz="825" b="1">
                <a:solidFill>
                  <a:srgbClr val="B8C0CE"/>
                </a:solidFill>
              </a:rPr>
              <a:t>12</a:t>
            </a:r>
          </a:p>
        </p:txBody>
      </p:sp>
      <p:sp>
        <p:nvSpPr>
          <p:cNvPr id="2" name="measurement-kicker">
            <a:extLst xmlns:a="http://schemas.openxmlformats.org/drawingml/2006/main">
              <a:ext uri="{FF2B5EF4-FFF2-40B4-BE49-F238E27FC236}">
                <a16:creationId xmlns:a16="http://schemas.microsoft.com/office/drawing/2014/main" id="{03E2CDA4-BAE6-4413-8FE2-610F621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EMBEDDED MEASUREMENT</a:t>
            </a:r>
          </a:p>
        </p:txBody>
      </p:sp>
      <p:sp>
        <p:nvSpPr>
          <p:cNvPr id="3" name="measurement-title">
            <a:extLst xmlns:a="http://schemas.openxmlformats.org/drawingml/2006/main">
              <a:ext uri="{FF2B5EF4-FFF2-40B4-BE49-F238E27FC236}">
                <a16:creationId xmlns:a16="http://schemas.microsoft.com/office/drawing/2014/main" id="{6FA8AA7A-16DA-4706-BF47-E925653C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Every lab leaves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an evidence trail</a:t>
            </a:r>
          </a:p>
        </p:txBody>
      </p:sp>
      <p:sp>
        <p:nvSpPr>
          <p:cNvPr id="4" name="measurement-body">
            <a:extLst xmlns:a="http://schemas.openxmlformats.org/drawingml/2006/main">
              <a:ext uri="{FF2B5EF4-FFF2-40B4-BE49-F238E27FC236}">
                <a16:creationId xmlns:a16="http://schemas.microsoft.com/office/drawing/2014/main" id="{C54DF35C-3DA7-413C-87B6-B80F0E8B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CDDA"/>
                </a:solidFill>
              </a:defRPr>
            </a:pPr>
            <a:r>
              <a:rPr sz="1500" b="0">
                <a:solidFill>
                  <a:srgbClr val="C5CDDA"/>
                </a:solidFill>
              </a:rPr>
              <a:t>Reusable instrumentation belongs to the growing runtime. Every lab defines its events, records calibration, and reports uncertainty.</a:t>
            </a:r>
          </a:p>
        </p:txBody>
      </p:sp>
      <p:sp>
        <p:nvSpPr>
          <p:cNvPr id="5" name="terminal">
            <a:extLst xmlns:a="http://schemas.openxmlformats.org/drawingml/2006/main">
              <a:ext uri="{FF2B5EF4-FFF2-40B4-BE49-F238E27FC236}">
                <a16:creationId xmlns:a16="http://schemas.microsoft.com/office/drawing/2014/main" id="{80660553-0E7D-414D-8A87-83E125D9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38200"/>
            <a:ext cx="4305300" cy="47625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10192B"/>
          </a:solidFill>
          <a:ln xmlns:a="http://schemas.openxmlformats.org/drawingml/2006/main" w="9525">
            <a:solidFill>
              <a:srgbClr val="53617B"/>
            </a:solidFill>
            <a:prstDash val="solid"/>
          </a:ln>
        </p:spPr>
      </p:sp>
      <p:sp>
        <p:nvSpPr>
          <p:cNvPr id="6" name="terminal-title">
            <a:extLst xmlns:a="http://schemas.openxmlformats.org/drawingml/2006/main">
              <a:ext uri="{FF2B5EF4-FFF2-40B4-BE49-F238E27FC236}">
                <a16:creationId xmlns:a16="http://schemas.microsoft.com/office/drawing/2014/main" id="{5EA41552-874B-4FD2-8618-BB3A82D2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430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FE2D8"/>
                </a:solidFill>
              </a:defRPr>
            </a:pPr>
            <a:r>
              <a:rPr sz="1050" b="1">
                <a:solidFill>
                  <a:srgbClr val="8FE2D8"/>
                </a:solidFill>
              </a:rPr>
              <a:t>veto-latency / evidence record</a:t>
            </a:r>
          </a:p>
        </p:txBody>
      </p:sp>
      <p:sp>
        <p:nvSpPr>
          <p:cNvPr id="7" name="terminal-body">
            <a:extLst xmlns:a="http://schemas.openxmlformats.org/drawingml/2006/main">
              <a:ext uri="{FF2B5EF4-FFF2-40B4-BE49-F238E27FC236}">
                <a16:creationId xmlns:a16="http://schemas.microsoft.com/office/drawing/2014/main" id="{32582536-6415-4B59-A439-BD348E67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3429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$ define event_A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  Bridge receipt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$ define event_B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  bounded MCU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$ collect trials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  calibration recorded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$ report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  p50 · p95 · p99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  uncertainty · regime</a:t>
            </a:r>
          </a:p>
        </p:txBody>
      </p:sp>
      <p:sp>
        <p:nvSpPr>
          <p:cNvPr id="8" name="measurement-rule">
            <a:extLst xmlns:a="http://schemas.openxmlformats.org/drawingml/2006/main">
              <a:ext uri="{FF2B5EF4-FFF2-40B4-BE49-F238E27FC236}">
                <a16:creationId xmlns:a16="http://schemas.microsoft.com/office/drawing/2014/main" id="{23EF5E9F-ECCF-4FEC-B779-9A08C99E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A999"/>
            </a:solidFill>
            <a:prstDash val="solid"/>
          </a:ln>
        </p:spPr>
      </p:sp>
      <p:sp>
        <p:nvSpPr>
          <p:cNvPr id="9" name="measurement-claim">
            <a:extLst xmlns:a="http://schemas.openxmlformats.org/drawingml/2006/main">
              <a:ext uri="{FF2B5EF4-FFF2-40B4-BE49-F238E27FC236}">
                <a16:creationId xmlns:a16="http://schemas.microsoft.com/office/drawing/2014/main" id="{E729F98A-8C9A-4AAE-B950-6FA44FE1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The harness serves the reference system,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not a separate software product.</a:t>
            </a:r>
          </a:p>
        </p:txBody>
      </p:sp>
    </p:spTree>
    <p:extLst>
      <p:ext uri="{BB962C8B-B14F-4D97-AF65-F5344CB8AC3E}">
        <p14:creationId xmlns:p14="http://schemas.microsoft.com/office/powerpoint/2010/main" val="11213047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3">
            <a:extLst xmlns:a="http://schemas.openxmlformats.org/drawingml/2006/main">
              <a:ext uri="{FF2B5EF4-FFF2-40B4-BE49-F238E27FC236}">
                <a16:creationId xmlns:a16="http://schemas.microsoft.com/office/drawing/2014/main" id="{1CAF5350-8816-44AC-AADC-186F6210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13</a:t>
            </a:r>
          </a:p>
        </p:txBody>
      </p:sp>
      <p:sp>
        <p:nvSpPr>
          <p:cNvPr id="2" name="eyebrow-13">
            <a:extLst xmlns:a="http://schemas.openxmlformats.org/drawingml/2006/main">
              <a:ext uri="{FF2B5EF4-FFF2-40B4-BE49-F238E27FC236}">
                <a16:creationId xmlns:a16="http://schemas.microsoft.com/office/drawing/2014/main" id="{7A2C3C6F-3B41-441D-B3E5-E758E04F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RELEASE MODEL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EE7E955B-E67E-4DA3-A676-F15F1F9E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Each release is a complete learning unit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D05C697C-09A3-46A3-BF9E-AC4DB0D0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Partners review a coherent package, not isolated manuscript pages.</a:t>
            </a:r>
          </a:p>
        </p:txBody>
      </p:sp>
      <p:sp>
        <p:nvSpPr>
          <p:cNvPr id="5" name="release-n-0">
            <a:extLst xmlns:a="http://schemas.openxmlformats.org/drawingml/2006/main">
              <a:ext uri="{FF2B5EF4-FFF2-40B4-BE49-F238E27FC236}">
                <a16:creationId xmlns:a16="http://schemas.microsoft.com/office/drawing/2014/main" id="{98A8F1AC-33A7-46A8-874E-FE72EB75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01</a:t>
            </a:r>
          </a:p>
        </p:txBody>
      </p:sp>
      <p:sp>
        <p:nvSpPr>
          <p:cNvPr id="6" name="release-h-0">
            <a:extLst xmlns:a="http://schemas.openxmlformats.org/drawingml/2006/main">
              <a:ext uri="{FF2B5EF4-FFF2-40B4-BE49-F238E27FC236}">
                <a16:creationId xmlns:a16="http://schemas.microsoft.com/office/drawing/2014/main" id="{A89E3A2E-31CD-4298-BE6A-E4B12D5B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90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A4A"/>
                </a:solidFill>
              </a:defRPr>
            </a:pPr>
            <a:r>
              <a:rPr sz="1425" b="1">
                <a:solidFill>
                  <a:srgbClr val="1B2A4A"/>
                </a:solidFill>
              </a:rPr>
              <a:t>CHAPTER</a:t>
            </a:r>
          </a:p>
        </p:txBody>
      </p:sp>
      <p:sp>
        <p:nvSpPr>
          <p:cNvPr id="7" name="release-b-0">
            <a:extLst xmlns:a="http://schemas.openxmlformats.org/drawingml/2006/main">
              <a:ext uri="{FF2B5EF4-FFF2-40B4-BE49-F238E27FC236}">
                <a16:creationId xmlns:a16="http://schemas.microsoft.com/office/drawing/2014/main" id="{C7235528-0EDB-4379-882E-86653DDD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71700"/>
            <a:ext cx="721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A precise narrative and detailed section architecture.</a:t>
            </a:r>
          </a:p>
        </p:txBody>
      </p:sp>
      <p:sp>
        <p:nvSpPr>
          <p:cNvPr id="8" name="release-rule-0">
            <a:extLst xmlns:a="http://schemas.openxmlformats.org/drawingml/2006/main">
              <a:ext uri="{FF2B5EF4-FFF2-40B4-BE49-F238E27FC236}">
                <a16:creationId xmlns:a16="http://schemas.microsoft.com/office/drawing/2014/main" id="{33390827-A368-477A-ADFD-631D2C4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62250"/>
            <a:ext cx="941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9" name="release-n-1">
            <a:extLst xmlns:a="http://schemas.openxmlformats.org/drawingml/2006/main">
              <a:ext uri="{FF2B5EF4-FFF2-40B4-BE49-F238E27FC236}">
                <a16:creationId xmlns:a16="http://schemas.microsoft.com/office/drawing/2014/main" id="{4910094F-AF8F-4D97-B0DB-9E309E48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02</a:t>
            </a:r>
          </a:p>
        </p:txBody>
      </p:sp>
      <p:sp>
        <p:nvSpPr>
          <p:cNvPr id="10" name="release-h-1">
            <a:extLst xmlns:a="http://schemas.openxmlformats.org/drawingml/2006/main">
              <a:ext uri="{FF2B5EF4-FFF2-40B4-BE49-F238E27FC236}">
                <a16:creationId xmlns:a16="http://schemas.microsoft.com/office/drawing/2014/main" id="{6342212D-F683-4DF9-A0CD-0270736F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86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A4A"/>
                </a:solidFill>
              </a:defRPr>
            </a:pPr>
            <a:r>
              <a:rPr sz="1425" b="1">
                <a:solidFill>
                  <a:srgbClr val="1B2A4A"/>
                </a:solidFill>
              </a:rPr>
              <a:t>LAB</a:t>
            </a:r>
          </a:p>
        </p:txBody>
      </p:sp>
      <p:sp>
        <p:nvSpPr>
          <p:cNvPr id="11" name="release-b-1">
            <a:extLst xmlns:a="http://schemas.openxmlformats.org/drawingml/2006/main">
              <a:ext uri="{FF2B5EF4-FFF2-40B4-BE49-F238E27FC236}">
                <a16:creationId xmlns:a16="http://schemas.microsoft.com/office/drawing/2014/main" id="{06E8225B-F9AB-4C62-A47E-8BFD17E1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67050"/>
            <a:ext cx="721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A reproducible manifestation on UNO Q, with Reachy where consequence matters.</a:t>
            </a:r>
          </a:p>
        </p:txBody>
      </p:sp>
      <p:sp>
        <p:nvSpPr>
          <p:cNvPr id="12" name="release-rule-1">
            <a:extLst xmlns:a="http://schemas.openxmlformats.org/drawingml/2006/main">
              <a:ext uri="{FF2B5EF4-FFF2-40B4-BE49-F238E27FC236}">
                <a16:creationId xmlns:a16="http://schemas.microsoft.com/office/drawing/2014/main" id="{11E57676-1C79-4296-980B-B1D85612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57600"/>
            <a:ext cx="941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13" name="release-n-2">
            <a:extLst xmlns:a="http://schemas.openxmlformats.org/drawingml/2006/main">
              <a:ext uri="{FF2B5EF4-FFF2-40B4-BE49-F238E27FC236}">
                <a16:creationId xmlns:a16="http://schemas.microsoft.com/office/drawing/2014/main" id="{E6F9413C-6929-4627-9D21-2479AA8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03</a:t>
            </a:r>
          </a:p>
        </p:txBody>
      </p:sp>
      <p:sp>
        <p:nvSpPr>
          <p:cNvPr id="14" name="release-h-2">
            <a:extLst xmlns:a="http://schemas.openxmlformats.org/drawingml/2006/main">
              <a:ext uri="{FF2B5EF4-FFF2-40B4-BE49-F238E27FC236}">
                <a16:creationId xmlns:a16="http://schemas.microsoft.com/office/drawing/2014/main" id="{9C83C371-83D6-4E78-B6FE-1CE5BF1F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A4A"/>
                </a:solidFill>
              </a:defRPr>
            </a:pPr>
            <a:r>
              <a:rPr sz="1425" b="1">
                <a:solidFill>
                  <a:srgbClr val="1B2A4A"/>
                </a:solidFill>
              </a:rPr>
              <a:t>FIGURE SET</a:t>
            </a:r>
          </a:p>
        </p:txBody>
      </p:sp>
      <p:sp>
        <p:nvSpPr>
          <p:cNvPr id="15" name="release-b-2">
            <a:extLst xmlns:a="http://schemas.openxmlformats.org/drawingml/2006/main">
              <a:ext uri="{FF2B5EF4-FFF2-40B4-BE49-F238E27FC236}">
                <a16:creationId xmlns:a16="http://schemas.microsoft.com/office/drawing/2014/main" id="{5C4777AD-5FCE-4236-A8CD-BC15DFD7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62400"/>
            <a:ext cx="721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Clean SVG mechanisms, measured plots, tables, and callouts.</a:t>
            </a:r>
          </a:p>
        </p:txBody>
      </p:sp>
      <p:sp>
        <p:nvSpPr>
          <p:cNvPr id="16" name="release-rule-2">
            <a:extLst xmlns:a="http://schemas.openxmlformats.org/drawingml/2006/main">
              <a:ext uri="{FF2B5EF4-FFF2-40B4-BE49-F238E27FC236}">
                <a16:creationId xmlns:a16="http://schemas.microsoft.com/office/drawing/2014/main" id="{CAF42694-9EEB-404F-B2BF-9A63639E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941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17" name="release-n-3">
            <a:extLst xmlns:a="http://schemas.openxmlformats.org/drawingml/2006/main">
              <a:ext uri="{FF2B5EF4-FFF2-40B4-BE49-F238E27FC236}">
                <a16:creationId xmlns:a16="http://schemas.microsoft.com/office/drawing/2014/main" id="{F7B25B09-F766-4536-A6F9-6F78AD50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04</a:t>
            </a:r>
          </a:p>
        </p:txBody>
      </p:sp>
      <p:sp>
        <p:nvSpPr>
          <p:cNvPr id="18" name="release-h-3">
            <a:extLst xmlns:a="http://schemas.openxmlformats.org/drawingml/2006/main">
              <a:ext uri="{FF2B5EF4-FFF2-40B4-BE49-F238E27FC236}">
                <a16:creationId xmlns:a16="http://schemas.microsoft.com/office/drawing/2014/main" id="{7958294A-41D9-4544-BFA9-D9D39B03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A4A"/>
                </a:solidFill>
              </a:defRPr>
            </a:pPr>
            <a:r>
              <a:rPr sz="1425" b="1">
                <a:solidFill>
                  <a:srgbClr val="1B2A4A"/>
                </a:solidFill>
              </a:rPr>
              <a:t>EVIDENCE CARD</a:t>
            </a:r>
          </a:p>
        </p:txBody>
      </p:sp>
      <p:sp>
        <p:nvSpPr>
          <p:cNvPr id="19" name="release-b-3">
            <a:extLst xmlns:a="http://schemas.openxmlformats.org/drawingml/2006/main">
              <a:ext uri="{FF2B5EF4-FFF2-40B4-BE49-F238E27FC236}">
                <a16:creationId xmlns:a16="http://schemas.microsoft.com/office/drawing/2014/main" id="{43BCA007-2A9A-451C-BED7-4995D390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721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Definitions, uncertainty, result, and the engineering decision it supports.</a:t>
            </a:r>
          </a:p>
        </p:txBody>
      </p:sp>
    </p:spTree>
    <p:extLst>
      <p:ext uri="{BB962C8B-B14F-4D97-AF65-F5344CB8AC3E}">
        <p14:creationId xmlns:p14="http://schemas.microsoft.com/office/powerpoint/2010/main" val="573187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4">
            <a:extLst xmlns:a="http://schemas.openxmlformats.org/drawingml/2006/main">
              <a:ext uri="{FF2B5EF4-FFF2-40B4-BE49-F238E27FC236}">
                <a16:creationId xmlns:a16="http://schemas.microsoft.com/office/drawing/2014/main" id="{3348C6B0-C115-49E0-BF24-89F9D0E0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14</a:t>
            </a:r>
          </a:p>
        </p:txBody>
      </p:sp>
      <p:sp>
        <p:nvSpPr>
          <p:cNvPr id="2" name="eyebrow-14">
            <a:extLst xmlns:a="http://schemas.openxmlformats.org/drawingml/2006/main">
              <a:ext uri="{FF2B5EF4-FFF2-40B4-BE49-F238E27FC236}">
                <a16:creationId xmlns:a16="http://schemas.microsoft.com/office/drawing/2014/main" id="{F2ACF583-950A-43CF-91C1-1A38741E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CONTROLLED PARALLELISM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C62AB777-B9F0-4318-8152-B70E4CF9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Build in waves, then reconcile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1DBBD0CF-6752-4C5C-8BCD-FA736150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Parallel chapter production becomes safe after every chapter has a canonical production packet.</a:t>
            </a:r>
          </a:p>
        </p:txBody>
      </p:sp>
      <p:sp>
        <p:nvSpPr>
          <p:cNvPr id="5" name="wave-0">
            <a:extLst xmlns:a="http://schemas.openxmlformats.org/drawingml/2006/main">
              <a:ext uri="{FF2B5EF4-FFF2-40B4-BE49-F238E27FC236}">
                <a16:creationId xmlns:a16="http://schemas.microsoft.com/office/drawing/2014/main" id="{B6E03E02-0BE0-42FA-9F0D-F79F4044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4384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6" name="wave-h-0">
            <a:extLst xmlns:a="http://schemas.openxmlformats.org/drawingml/2006/main">
              <a:ext uri="{FF2B5EF4-FFF2-40B4-BE49-F238E27FC236}">
                <a16:creationId xmlns:a16="http://schemas.microsoft.com/office/drawing/2014/main" id="{5D972687-9FB7-4011-97D8-F20A71E8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2A4A"/>
                </a:solidFill>
              </a:defRPr>
            </a:pPr>
            <a:r>
              <a:rPr sz="1275" b="1">
                <a:solidFill>
                  <a:srgbClr val="1B2A4A"/>
                </a:solidFill>
              </a:rPr>
              <a:t>WAVE 1</a:t>
            </a:r>
          </a:p>
        </p:txBody>
      </p:sp>
      <p:sp>
        <p:nvSpPr>
          <p:cNvPr id="7" name="wave-b-0">
            <a:extLst xmlns:a="http://schemas.openxmlformats.org/drawingml/2006/main">
              <a:ext uri="{FF2B5EF4-FFF2-40B4-BE49-F238E27FC236}">
                <a16:creationId xmlns:a16="http://schemas.microsoft.com/office/drawing/2014/main" id="{09CC35A1-3C69-4D0F-9043-799CC46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981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Manifesto · Quickstart · Chapters 1–4</a:t>
            </a:r>
          </a:p>
        </p:txBody>
      </p:sp>
      <p:sp>
        <p:nvSpPr>
          <p:cNvPr id="8" name="wave-review-0">
            <a:extLst xmlns:a="http://schemas.openxmlformats.org/drawingml/2006/main">
              <a:ext uri="{FF2B5EF4-FFF2-40B4-BE49-F238E27FC236}">
                <a16:creationId xmlns:a16="http://schemas.microsoft.com/office/drawing/2014/main" id="{BBDA29F7-D5D5-47DE-B16B-6E63E374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REVIEW + RECONCILE</a:t>
            </a:r>
          </a:p>
        </p:txBody>
      </p:sp>
      <p:sp>
        <p:nvSpPr>
          <p:cNvPr id="9" name="wave-1">
            <a:extLst xmlns:a="http://schemas.openxmlformats.org/drawingml/2006/main">
              <a:ext uri="{FF2B5EF4-FFF2-40B4-BE49-F238E27FC236}">
                <a16:creationId xmlns:a16="http://schemas.microsoft.com/office/drawing/2014/main" id="{F4653978-231B-4436-BAC7-842411D5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24384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19050">
            <a:solidFill>
              <a:srgbClr val="18A999"/>
            </a:solidFill>
            <a:prstDash val="solid"/>
          </a:ln>
        </p:spPr>
      </p:sp>
      <p:sp>
        <p:nvSpPr>
          <p:cNvPr id="10" name="wave-h-1">
            <a:extLst xmlns:a="http://schemas.openxmlformats.org/drawingml/2006/main">
              <a:ext uri="{FF2B5EF4-FFF2-40B4-BE49-F238E27FC236}">
                <a16:creationId xmlns:a16="http://schemas.microsoft.com/office/drawing/2014/main" id="{2B2BF3F0-0281-4AF6-963D-FDBEF33E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WAVE 2</a:t>
            </a:r>
          </a:p>
        </p:txBody>
      </p:sp>
      <p:sp>
        <p:nvSpPr>
          <p:cNvPr id="11" name="wave-b-1">
            <a:extLst xmlns:a="http://schemas.openxmlformats.org/drawingml/2006/main">
              <a:ext uri="{FF2B5EF4-FFF2-40B4-BE49-F238E27FC236}">
                <a16:creationId xmlns:a16="http://schemas.microsoft.com/office/drawing/2014/main" id="{2108803A-855E-425A-A1C7-9A106F16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38500"/>
            <a:ext cx="1981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Chapters 5–8</a:t>
            </a:r>
          </a:p>
        </p:txBody>
      </p:sp>
      <p:sp>
        <p:nvSpPr>
          <p:cNvPr id="12" name="wave-review-1">
            <a:extLst xmlns:a="http://schemas.openxmlformats.org/drawingml/2006/main">
              <a:ext uri="{FF2B5EF4-FFF2-40B4-BE49-F238E27FC236}">
                <a16:creationId xmlns:a16="http://schemas.microsoft.com/office/drawing/2014/main" id="{BB592B54-D38A-4269-A222-26C6B822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62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REVIEW + RECONCILE</a:t>
            </a:r>
          </a:p>
        </p:txBody>
      </p:sp>
      <p:sp>
        <p:nvSpPr>
          <p:cNvPr id="13" name="wave-2">
            <a:extLst xmlns:a="http://schemas.openxmlformats.org/drawingml/2006/main">
              <a:ext uri="{FF2B5EF4-FFF2-40B4-BE49-F238E27FC236}">
                <a16:creationId xmlns:a16="http://schemas.microsoft.com/office/drawing/2014/main" id="{C55535C2-3749-4763-A6E3-19C01092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24384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E9E2"/>
          </a:solidFill>
          <a:ln xmlns:a="http://schemas.openxmlformats.org/drawingml/2006/main" w="19050">
            <a:solidFill>
              <a:srgbClr val="C0562B"/>
            </a:solidFill>
            <a:prstDash val="solid"/>
          </a:ln>
        </p:spPr>
      </p:sp>
      <p:sp>
        <p:nvSpPr>
          <p:cNvPr id="14" name="wave-h-2">
            <a:extLst xmlns:a="http://schemas.openxmlformats.org/drawingml/2006/main">
              <a:ext uri="{FF2B5EF4-FFF2-40B4-BE49-F238E27FC236}">
                <a16:creationId xmlns:a16="http://schemas.microsoft.com/office/drawing/2014/main" id="{CF4214F8-75A0-4547-9E87-81982716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0562B"/>
                </a:solidFill>
              </a:defRPr>
            </a:pPr>
            <a:r>
              <a:rPr sz="1275" b="1">
                <a:solidFill>
                  <a:srgbClr val="C0562B"/>
                </a:solidFill>
              </a:rPr>
              <a:t>WAVE 3</a:t>
            </a:r>
          </a:p>
        </p:txBody>
      </p:sp>
      <p:sp>
        <p:nvSpPr>
          <p:cNvPr id="15" name="wave-b-2">
            <a:extLst xmlns:a="http://schemas.openxmlformats.org/drawingml/2006/main">
              <a:ext uri="{FF2B5EF4-FFF2-40B4-BE49-F238E27FC236}">
                <a16:creationId xmlns:a16="http://schemas.microsoft.com/office/drawing/2014/main" id="{493E75BD-1E08-44BC-99BC-5825F989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981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Chapters 9–12</a:t>
            </a:r>
          </a:p>
        </p:txBody>
      </p:sp>
      <p:sp>
        <p:nvSpPr>
          <p:cNvPr id="16" name="wave-review-2">
            <a:extLst xmlns:a="http://schemas.openxmlformats.org/drawingml/2006/main">
              <a:ext uri="{FF2B5EF4-FFF2-40B4-BE49-F238E27FC236}">
                <a16:creationId xmlns:a16="http://schemas.microsoft.com/office/drawing/2014/main" id="{B6D6449E-4AA3-4E78-A161-22E43B08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62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REVIEW + RECONCILE</a:t>
            </a:r>
          </a:p>
        </p:txBody>
      </p:sp>
      <p:sp>
        <p:nvSpPr>
          <p:cNvPr id="17" name="wave-3">
            <a:extLst xmlns:a="http://schemas.openxmlformats.org/drawingml/2006/main">
              <a:ext uri="{FF2B5EF4-FFF2-40B4-BE49-F238E27FC236}">
                <a16:creationId xmlns:a16="http://schemas.microsoft.com/office/drawing/2014/main" id="{E0DD87D2-2389-4FF5-AB44-30721025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00300"/>
            <a:ext cx="24384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EAD2"/>
          </a:solidFill>
          <a:ln xmlns:a="http://schemas.openxmlformats.org/drawingml/2006/main" w="19050">
            <a:solidFill>
              <a:srgbClr val="D98C1F"/>
            </a:solidFill>
            <a:prstDash val="solid"/>
          </a:ln>
        </p:spPr>
      </p:sp>
      <p:sp>
        <p:nvSpPr>
          <p:cNvPr id="18" name="wave-h-3">
            <a:extLst xmlns:a="http://schemas.openxmlformats.org/drawingml/2006/main">
              <a:ext uri="{FF2B5EF4-FFF2-40B4-BE49-F238E27FC236}">
                <a16:creationId xmlns:a16="http://schemas.microsoft.com/office/drawing/2014/main" id="{10C7F733-8D8B-4B3A-A8A9-72A2B391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8C1F"/>
                </a:solidFill>
              </a:defRPr>
            </a:pPr>
            <a:r>
              <a:rPr sz="1275" b="1">
                <a:solidFill>
                  <a:srgbClr val="D98C1F"/>
                </a:solidFill>
              </a:rPr>
              <a:t>WAVE 4</a:t>
            </a:r>
          </a:p>
        </p:txBody>
      </p:sp>
      <p:sp>
        <p:nvSpPr>
          <p:cNvPr id="19" name="wave-b-3">
            <a:extLst xmlns:a="http://schemas.openxmlformats.org/drawingml/2006/main">
              <a:ext uri="{FF2B5EF4-FFF2-40B4-BE49-F238E27FC236}">
                <a16:creationId xmlns:a16="http://schemas.microsoft.com/office/drawing/2014/main" id="{F0165244-F1E0-48CF-8A86-24B0EA4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1981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Capstone · appendices · whole-book audit</a:t>
            </a:r>
          </a:p>
        </p:txBody>
      </p:sp>
      <p:sp>
        <p:nvSpPr>
          <p:cNvPr id="20" name="wave-review-3">
            <a:extLst xmlns:a="http://schemas.openxmlformats.org/drawingml/2006/main">
              <a:ext uri="{FF2B5EF4-FFF2-40B4-BE49-F238E27FC236}">
                <a16:creationId xmlns:a16="http://schemas.microsoft.com/office/drawing/2014/main" id="{9FDEC248-95CB-4F9B-A804-97DBB103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62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REVIEW + RECONCILE</a:t>
            </a:r>
          </a:p>
        </p:txBody>
      </p:sp>
      <p:sp>
        <p:nvSpPr>
          <p:cNvPr id="21" name="wave-bottom">
            <a:extLst xmlns:a="http://schemas.openxmlformats.org/drawingml/2006/main">
              <a:ext uri="{FF2B5EF4-FFF2-40B4-BE49-F238E27FC236}">
                <a16:creationId xmlns:a16="http://schemas.microsoft.com/office/drawing/2014/main" id="{584DD96A-75F6-436B-8E9C-8617BECF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29250"/>
            <a:ext cx="853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F4A59"/>
                </a:solidFill>
              </a:defRPr>
            </a:pPr>
            <a:r>
              <a:rPr sz="1425" b="1">
                <a:solidFill>
                  <a:srgbClr val="3F4A59"/>
                </a:solidFill>
              </a:rPr>
              <a:t>No fixed calendar is proposed before scope, review depth, and hardware access are agreed.</a:t>
            </a:r>
          </a:p>
        </p:txBody>
      </p:sp>
    </p:spTree>
    <p:extLst>
      <p:ext uri="{BB962C8B-B14F-4D97-AF65-F5344CB8AC3E}">
        <p14:creationId xmlns:p14="http://schemas.microsoft.com/office/powerpoint/2010/main" val="10208399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5">
            <a:extLst xmlns:a="http://schemas.openxmlformats.org/drawingml/2006/main">
              <a:ext uri="{FF2B5EF4-FFF2-40B4-BE49-F238E27FC236}">
                <a16:creationId xmlns:a16="http://schemas.microsoft.com/office/drawing/2014/main" id="{BF929DAD-7F6D-4EA7-8FA2-03FD4A13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15</a:t>
            </a:r>
          </a:p>
        </p:txBody>
      </p:sp>
      <p:sp>
        <p:nvSpPr>
          <p:cNvPr id="2" name="arduino-kicker">
            <a:extLst xmlns:a="http://schemas.openxmlformats.org/drawingml/2006/main">
              <a:ext uri="{FF2B5EF4-FFF2-40B4-BE49-F238E27FC236}">
                <a16:creationId xmlns:a16="http://schemas.microsoft.com/office/drawing/2014/main" id="{88549082-57BA-4810-A23F-672E60ED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VALUE FOR ARDUINO</a:t>
            </a:r>
          </a:p>
        </p:txBody>
      </p:sp>
      <p:sp>
        <p:nvSpPr>
          <p:cNvPr id="3" name="arduino-title">
            <a:extLst xmlns:a="http://schemas.openxmlformats.org/drawingml/2006/main">
              <a:ext uri="{FF2B5EF4-FFF2-40B4-BE49-F238E27FC236}">
                <a16:creationId xmlns:a16="http://schemas.microsoft.com/office/drawing/2014/main" id="{C9758819-3030-436D-A4CD-00E10A6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38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2A4A"/>
                </a:solidFill>
              </a:defRPr>
            </a:pPr>
            <a:r>
              <a:rPr sz="3150" b="1">
                <a:solidFill>
                  <a:srgbClr val="1B2A4A"/>
                </a:solidFill>
              </a:rPr>
              <a:t>Give UNO Q a teachable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B2A4A"/>
                </a:solidFill>
              </a:defRPr>
            </a:pPr>
            <a:r>
              <a:rPr sz="3150" b="1">
                <a:solidFill>
                  <a:srgbClr val="1B2A4A"/>
                </a:solidFill>
              </a:rPr>
              <a:t>physical-AI identity</a:t>
            </a:r>
          </a:p>
        </p:txBody>
      </p:sp>
      <p:sp>
        <p:nvSpPr>
          <p:cNvPr id="4" name="arduino-accent">
            <a:extLst xmlns:a="http://schemas.openxmlformats.org/drawingml/2006/main">
              <a:ext uri="{FF2B5EF4-FFF2-40B4-BE49-F238E27FC236}">
                <a16:creationId xmlns:a16="http://schemas.microsoft.com/office/drawing/2014/main" id="{B60B1C00-D200-44F7-BFA5-F856F8B5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999"/>
            </a:solidFill>
            <a:prstDash val="solid"/>
          </a:ln>
        </p:spPr>
      </p:sp>
      <p:sp>
        <p:nvSpPr>
          <p:cNvPr id="5" name="arduino-h-0">
            <a:extLst xmlns:a="http://schemas.openxmlformats.org/drawingml/2006/main">
              <a:ext uri="{FF2B5EF4-FFF2-40B4-BE49-F238E27FC236}">
                <a16:creationId xmlns:a16="http://schemas.microsoft.com/office/drawing/2014/main" id="{A0620DE3-DDBA-43E9-B002-2826F517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 reference architecture</a:t>
            </a:r>
          </a:p>
        </p:txBody>
      </p:sp>
      <p:sp>
        <p:nvSpPr>
          <p:cNvPr id="6" name="arduino-b-0">
            <a:extLst xmlns:a="http://schemas.openxmlformats.org/drawingml/2006/main">
              <a:ext uri="{FF2B5EF4-FFF2-40B4-BE49-F238E27FC236}">
                <a16:creationId xmlns:a16="http://schemas.microsoft.com/office/drawing/2014/main" id="{9BA4006F-450E-4051-B66D-F43E7947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384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The dual-domain boundary becomes a recurring engineering pattern.</a:t>
            </a:r>
          </a:p>
        </p:txBody>
      </p:sp>
      <p:sp>
        <p:nvSpPr>
          <p:cNvPr id="7" name="arduino-h-1">
            <a:extLst xmlns:a="http://schemas.openxmlformats.org/drawingml/2006/main">
              <a:ext uri="{FF2B5EF4-FFF2-40B4-BE49-F238E27FC236}">
                <a16:creationId xmlns:a16="http://schemas.microsoft.com/office/drawing/2014/main" id="{7B32BD6D-4DB3-4C0E-8A72-29426AA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 cumulative build</a:t>
            </a:r>
          </a:p>
        </p:txBody>
      </p:sp>
      <p:sp>
        <p:nvSpPr>
          <p:cNvPr id="8" name="arduino-b-1">
            <a:extLst xmlns:a="http://schemas.openxmlformats.org/drawingml/2006/main">
              <a:ext uri="{FF2B5EF4-FFF2-40B4-BE49-F238E27FC236}">
                <a16:creationId xmlns:a16="http://schemas.microsoft.com/office/drawing/2014/main" id="{01892EDA-7C38-46C8-B94D-96D0E63D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290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One runtime grows across the curriculum instead of resetting every chapter.</a:t>
            </a:r>
          </a:p>
        </p:txBody>
      </p:sp>
      <p:sp>
        <p:nvSpPr>
          <p:cNvPr id="9" name="arduino-h-2">
            <a:extLst xmlns:a="http://schemas.openxmlformats.org/drawingml/2006/main">
              <a:ext uri="{FF2B5EF4-FFF2-40B4-BE49-F238E27FC236}">
                <a16:creationId xmlns:a16="http://schemas.microsoft.com/office/drawing/2014/main" id="{1DB8250A-5A96-43DB-9B4B-D921A055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 release program</a:t>
            </a:r>
          </a:p>
        </p:txBody>
      </p:sp>
      <p:sp>
        <p:nvSpPr>
          <p:cNvPr id="10" name="arduino-b-2">
            <a:extLst xmlns:a="http://schemas.openxmlformats.org/drawingml/2006/main">
              <a:ext uri="{FF2B5EF4-FFF2-40B4-BE49-F238E27FC236}">
                <a16:creationId xmlns:a16="http://schemas.microsoft.com/office/drawing/2014/main" id="{CB48C45C-1FAD-4F60-91FA-A6C3BE19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196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Each chapter brings a lab, figure set, and measurable decision.</a:t>
            </a:r>
          </a:p>
        </p:txBody>
      </p:sp>
      <p:sp>
        <p:nvSpPr>
          <p:cNvPr id="11" name="arduino-bottom">
            <a:extLst xmlns:a="http://schemas.openxmlformats.org/drawingml/2006/main">
              <a:ext uri="{FF2B5EF4-FFF2-40B4-BE49-F238E27FC236}">
                <a16:creationId xmlns:a16="http://schemas.microsoft.com/office/drawing/2014/main" id="{B4769489-E51A-42B2-8466-6BBE021D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duino-bottom-text">
            <a:extLst xmlns:a="http://schemas.openxmlformats.org/drawingml/2006/main">
              <a:ext uri="{FF2B5EF4-FFF2-40B4-BE49-F238E27FC236}">
                <a16:creationId xmlns:a16="http://schemas.microsoft.com/office/drawing/2014/main" id="{F45CC4B7-00A9-41F7-8E0A-0E43DA44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The board is not a sponsor placement. It is where the mechanism becomes reproducible.</a:t>
            </a:r>
          </a:p>
        </p:txBody>
      </p:sp>
    </p:spTree>
    <p:extLst>
      <p:ext uri="{BB962C8B-B14F-4D97-AF65-F5344CB8AC3E}">
        <p14:creationId xmlns:p14="http://schemas.microsoft.com/office/powerpoint/2010/main" val="2023330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6">
            <a:extLst xmlns:a="http://schemas.openxmlformats.org/drawingml/2006/main">
              <a:ext uri="{FF2B5EF4-FFF2-40B4-BE49-F238E27FC236}">
                <a16:creationId xmlns:a16="http://schemas.microsoft.com/office/drawing/2014/main" id="{D9F2FB3F-5082-4493-83AD-6CB6B902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0CE"/>
                </a:solidFill>
              </a:defRPr>
            </a:pPr>
            <a:r>
              <a:rPr sz="825" b="1">
                <a:solidFill>
                  <a:srgbClr val="B8C0CE"/>
                </a:solidFill>
              </a:rPr>
              <a:t>16</a:t>
            </a:r>
          </a:p>
        </p:txBody>
      </p:sp>
      <p:sp>
        <p:nvSpPr>
          <p:cNvPr id="2" name="qualcomm-kicker">
            <a:extLst xmlns:a="http://schemas.openxmlformats.org/drawingml/2006/main">
              <a:ext uri="{FF2B5EF4-FFF2-40B4-BE49-F238E27FC236}">
                <a16:creationId xmlns:a16="http://schemas.microsoft.com/office/drawing/2014/main" id="{6CA0BD5B-F2A3-4CAF-B293-11996400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4C08B"/>
                </a:solidFill>
              </a:defRPr>
            </a:pPr>
            <a:r>
              <a:rPr sz="900" b="1">
                <a:solidFill>
                  <a:srgbClr val="F4C08B"/>
                </a:solidFill>
              </a:rPr>
              <a:t>VALUE FOR QUALCOMM</a:t>
            </a:r>
          </a:p>
        </p:txBody>
      </p:sp>
      <p:sp>
        <p:nvSpPr>
          <p:cNvPr id="3" name="qualcomm-title">
            <a:extLst xmlns:a="http://schemas.openxmlformats.org/drawingml/2006/main">
              <a:ext uri="{FF2B5EF4-FFF2-40B4-BE49-F238E27FC236}">
                <a16:creationId xmlns:a16="http://schemas.microsoft.com/office/drawing/2014/main" id="{A18BA4C7-DD93-4A95-9293-01EAE6B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Teach engineers to place</a:t>
            </a:r>
          </a:p>
          <a:p xmlns:a="http://schemas.openxmlformats.org/drawingml/2006/main">
            <a:pPr algn="l">
              <a:buNone/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Dragonwing inside a governed loop</a:t>
            </a:r>
          </a:p>
        </p:txBody>
      </p:sp>
      <p:sp>
        <p:nvSpPr>
          <p:cNvPr id="4" name="dragonwing-block">
            <a:extLst xmlns:a="http://schemas.openxmlformats.org/drawingml/2006/main">
              <a:ext uri="{FF2B5EF4-FFF2-40B4-BE49-F238E27FC236}">
                <a16:creationId xmlns:a16="http://schemas.microsoft.com/office/drawing/2014/main" id="{983ADE80-F9DC-4FB3-9997-01D66CA8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38200"/>
            <a:ext cx="4171950" cy="2228850"/>
          </a:xfrm>
          <a:prstGeom xmlns:a="http://schemas.openxmlformats.org/drawingml/2006/main" prst="roundRect">
            <a:avLst>
              <a:gd name="adj" fmla="val 42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agonwing-small">
            <a:extLst xmlns:a="http://schemas.openxmlformats.org/drawingml/2006/main">
              <a:ext uri="{FF2B5EF4-FFF2-40B4-BE49-F238E27FC236}">
                <a16:creationId xmlns:a16="http://schemas.microsoft.com/office/drawing/2014/main" id="{0E1AAE86-8A0E-45CE-9AAC-99DCADFE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162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QUALCOMM DRAGONWING</a:t>
            </a:r>
          </a:p>
        </p:txBody>
      </p:sp>
      <p:sp>
        <p:nvSpPr>
          <p:cNvPr id="6" name="dragonwing-name">
            <a:extLst xmlns:a="http://schemas.openxmlformats.org/drawingml/2006/main">
              <a:ext uri="{FF2B5EF4-FFF2-40B4-BE49-F238E27FC236}">
                <a16:creationId xmlns:a16="http://schemas.microsoft.com/office/drawing/2014/main" id="{D49C6415-FA7C-44A0-A979-EED4D7D7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002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QRB2210</a:t>
            </a:r>
          </a:p>
        </p:txBody>
      </p:sp>
      <p:sp>
        <p:nvSpPr>
          <p:cNvPr id="7" name="dragonwing-role">
            <a:extLst xmlns:a="http://schemas.openxmlformats.org/drawingml/2006/main">
              <a:ext uri="{FF2B5EF4-FFF2-40B4-BE49-F238E27FC236}">
                <a16:creationId xmlns:a16="http://schemas.microsoft.com/office/drawing/2014/main" id="{E1CBCDA3-2437-4908-9727-173DE58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high-level compute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inside a measured boundary</a:t>
            </a:r>
          </a:p>
        </p:txBody>
      </p:sp>
      <p:sp>
        <p:nvSpPr>
          <p:cNvPr id="8" name="q-num-0">
            <a:extLst xmlns:a="http://schemas.openxmlformats.org/drawingml/2006/main">
              <a:ext uri="{FF2B5EF4-FFF2-40B4-BE49-F238E27FC236}">
                <a16:creationId xmlns:a16="http://schemas.microsoft.com/office/drawing/2014/main" id="{13310A91-44CC-426A-8E68-05561C8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4C08B"/>
                </a:solidFill>
              </a:defRPr>
            </a:pPr>
            <a:r>
              <a:rPr sz="900" b="1">
                <a:solidFill>
                  <a:srgbClr val="F4C08B"/>
                </a:solidFill>
              </a:rPr>
              <a:t>01</a:t>
            </a:r>
          </a:p>
        </p:txBody>
      </p:sp>
      <p:sp>
        <p:nvSpPr>
          <p:cNvPr id="9" name="q-point-0">
            <a:extLst xmlns:a="http://schemas.openxmlformats.org/drawingml/2006/main">
              <a:ext uri="{FF2B5EF4-FFF2-40B4-BE49-F238E27FC236}">
                <a16:creationId xmlns:a16="http://schemas.microsoft.com/office/drawing/2014/main" id="{47374FDD-0E1F-4460-BE58-C74C389C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7DEE8"/>
                </a:solidFill>
              </a:defRPr>
            </a:pPr>
            <a:r>
              <a:rPr sz="1500" b="1">
                <a:solidFill>
                  <a:srgbClr val="D7DEE8"/>
                </a:solidFill>
              </a:rPr>
              <a:t>Make edge AI placement measurable, not rhetorical.</a:t>
            </a:r>
          </a:p>
        </p:txBody>
      </p:sp>
      <p:sp>
        <p:nvSpPr>
          <p:cNvPr id="10" name="q-num-1">
            <a:extLst xmlns:a="http://schemas.openxmlformats.org/drawingml/2006/main">
              <a:ext uri="{FF2B5EF4-FFF2-40B4-BE49-F238E27FC236}">
                <a16:creationId xmlns:a16="http://schemas.microsoft.com/office/drawing/2014/main" id="{03FF0D6F-F43C-4B60-8C2C-93F88D32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4C08B"/>
                </a:solidFill>
              </a:defRPr>
            </a:pPr>
            <a:r>
              <a:rPr sz="900" b="1">
                <a:solidFill>
                  <a:srgbClr val="F4C08B"/>
                </a:solidFill>
              </a:rPr>
              <a:t>02</a:t>
            </a:r>
          </a:p>
        </p:txBody>
      </p:sp>
      <p:sp>
        <p:nvSpPr>
          <p:cNvPr id="11" name="q-point-1">
            <a:extLst xmlns:a="http://schemas.openxmlformats.org/drawingml/2006/main">
              <a:ext uri="{FF2B5EF4-FFF2-40B4-BE49-F238E27FC236}">
                <a16:creationId xmlns:a16="http://schemas.microsoft.com/office/drawing/2014/main" id="{4F7E1A36-5F6A-41BE-86C7-F83FB486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7DEE8"/>
                </a:solidFill>
              </a:defRPr>
            </a:pPr>
            <a:r>
              <a:rPr sz="1500" b="0">
                <a:solidFill>
                  <a:srgbClr val="D7DEE8"/>
                </a:solidFill>
              </a:rPr>
              <a:t>Connect high-level compute to real-time control through an explicit contract.</a:t>
            </a:r>
          </a:p>
        </p:txBody>
      </p:sp>
      <p:sp>
        <p:nvSpPr>
          <p:cNvPr id="12" name="q-num-2">
            <a:extLst xmlns:a="http://schemas.openxmlformats.org/drawingml/2006/main">
              <a:ext uri="{FF2B5EF4-FFF2-40B4-BE49-F238E27FC236}">
                <a16:creationId xmlns:a16="http://schemas.microsoft.com/office/drawing/2014/main" id="{AE840D7A-1A5A-4D6E-B9A5-6B090042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4C08B"/>
                </a:solidFill>
              </a:defRPr>
            </a:pPr>
            <a:r>
              <a:rPr sz="900" b="1">
                <a:solidFill>
                  <a:srgbClr val="F4C08B"/>
                </a:solidFill>
              </a:rPr>
              <a:t>03</a:t>
            </a:r>
          </a:p>
        </p:txBody>
      </p:sp>
      <p:sp>
        <p:nvSpPr>
          <p:cNvPr id="13" name="q-point-2">
            <a:extLst xmlns:a="http://schemas.openxmlformats.org/drawingml/2006/main">
              <a:ext uri="{FF2B5EF4-FFF2-40B4-BE49-F238E27FC236}">
                <a16:creationId xmlns:a16="http://schemas.microsoft.com/office/drawing/2014/main" id="{19EDD363-284C-43B1-AFCE-05D756CF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958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7DEE8"/>
                </a:solidFill>
              </a:defRPr>
            </a:pPr>
            <a:r>
              <a:rPr sz="1500" b="0">
                <a:solidFill>
                  <a:srgbClr val="D7DEE8"/>
                </a:solidFill>
              </a:rPr>
              <a:t>Create technical curriculum that travels from education into practice.</a:t>
            </a:r>
          </a:p>
        </p:txBody>
      </p:sp>
      <p:sp>
        <p:nvSpPr>
          <p:cNvPr id="14" name="source-16">
            <a:extLst xmlns:a="http://schemas.openxmlformats.org/drawingml/2006/main">
              <a:ext uri="{FF2B5EF4-FFF2-40B4-BE49-F238E27FC236}">
                <a16:creationId xmlns:a16="http://schemas.microsoft.com/office/drawing/2014/main" id="{25F277E5-BA02-4FFE-BD86-1482EA4A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386"/>
                </a:solidFill>
              </a:defRPr>
            </a:pPr>
            <a:r>
              <a:rPr sz="675" b="0">
                <a:solidFill>
                  <a:srgbClr val="687386"/>
                </a:solidFill>
              </a:rPr>
              <a:t>Platform facts: Arduino and Qualcomm UNO Q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4437766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7">
            <a:extLst xmlns:a="http://schemas.openxmlformats.org/drawingml/2006/main">
              <a:ext uri="{FF2B5EF4-FFF2-40B4-BE49-F238E27FC236}">
                <a16:creationId xmlns:a16="http://schemas.microsoft.com/office/drawing/2014/main" id="{0F41941C-33F5-4F9E-8252-A33B42C8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17</a:t>
            </a:r>
          </a:p>
        </p:txBody>
      </p:sp>
      <p:sp>
        <p:nvSpPr>
          <p:cNvPr id="2" name="eyebrow-17">
            <a:extLst xmlns:a="http://schemas.openxmlformats.org/drawingml/2006/main">
              <a:ext uri="{FF2B5EF4-FFF2-40B4-BE49-F238E27FC236}">
                <a16:creationId xmlns:a16="http://schemas.microsoft.com/office/drawing/2014/main" id="{CCA2764E-8BBA-49E1-A64F-98639F23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ENGAGEMENT STRUCTURE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E0F5F015-E4BA-43A1-9B3F-7D96625F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A bounded consulting partnership</a:t>
            </a:r>
          </a:p>
        </p:txBody>
      </p:sp>
      <p:sp>
        <p:nvSpPr>
          <p:cNvPr id="4" name="subtitle-17">
            <a:extLst xmlns:a="http://schemas.openxmlformats.org/drawingml/2006/main">
              <a:ext uri="{FF2B5EF4-FFF2-40B4-BE49-F238E27FC236}">
                <a16:creationId xmlns:a16="http://schemas.microsoft.com/office/drawing/2014/main" id="{1CA86D09-8F87-434A-8A26-467203B0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The first scope aligns deliverables, review authority, hardware access, and rights before production accelerates.</a:t>
            </a:r>
          </a:p>
        </p:txBody>
      </p:sp>
      <p:sp>
        <p:nvSpPr>
          <p:cNvPr id="5" name="engagement-divider">
            <a:extLst xmlns:a="http://schemas.openxmlformats.org/drawingml/2006/main">
              <a:ext uri="{FF2B5EF4-FFF2-40B4-BE49-F238E27FC236}">
                <a16:creationId xmlns:a16="http://schemas.microsoft.com/office/drawing/2014/main" id="{DFF993A1-F4F9-4AD4-87BF-FDCD5A01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0" cy="3295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3B0"/>
            </a:solidFill>
            <a:prstDash val="solid"/>
          </a:ln>
        </p:spPr>
      </p:sp>
      <p:sp>
        <p:nvSpPr>
          <p:cNvPr id="6" name="scope-head">
            <a:extLst xmlns:a="http://schemas.openxmlformats.org/drawingml/2006/main">
              <a:ext uri="{FF2B5EF4-FFF2-40B4-BE49-F238E27FC236}">
                <a16:creationId xmlns:a16="http://schemas.microsoft.com/office/drawing/2014/main" id="{4E524D69-DDDE-4437-964C-32FAF36A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8A999"/>
                </a:solidFill>
              </a:defRPr>
            </a:pPr>
            <a:r>
              <a:rPr sz="1125" b="1">
                <a:solidFill>
                  <a:srgbClr val="18A999"/>
                </a:solidFill>
              </a:rPr>
              <a:t>DELIVERABLES</a:t>
            </a:r>
          </a:p>
        </p:txBody>
      </p:sp>
      <p:sp>
        <p:nvSpPr>
          <p:cNvPr id="7" name="scope-body">
            <a:extLst xmlns:a="http://schemas.openxmlformats.org/drawingml/2006/main">
              <a:ext uri="{FF2B5EF4-FFF2-40B4-BE49-F238E27FC236}">
                <a16:creationId xmlns:a16="http://schemas.microsoft.com/office/drawing/2014/main" id="{637B4924-C70F-44A9-B9FF-1B302CA3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572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Narrative and curriculum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Book chapters and release editing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UNO Q labs and reference implementation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Embedded measurement and evidence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Executive technical leadership</a:t>
            </a:r>
          </a:p>
        </p:txBody>
      </p:sp>
      <p:sp>
        <p:nvSpPr>
          <p:cNvPr id="8" name="terms-head">
            <a:extLst xmlns:a="http://schemas.openxmlformats.org/drawingml/2006/main">
              <a:ext uri="{FF2B5EF4-FFF2-40B4-BE49-F238E27FC236}">
                <a16:creationId xmlns:a16="http://schemas.microsoft.com/office/drawing/2014/main" id="{7787C6E3-F79D-4188-A34B-61548CC2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0562B"/>
                </a:solidFill>
              </a:defRPr>
            </a:pPr>
            <a:r>
              <a:rPr sz="1125" b="1">
                <a:solidFill>
                  <a:srgbClr val="C0562B"/>
                </a:solidFill>
              </a:rPr>
              <a:t>TERMS TO DEFINE TOGETHER</a:t>
            </a:r>
          </a:p>
        </p:txBody>
      </p:sp>
      <p:sp>
        <p:nvSpPr>
          <p:cNvPr id="9" name="terms-body">
            <a:extLst xmlns:a="http://schemas.openxmlformats.org/drawingml/2006/main">
              <a:ext uri="{FF2B5EF4-FFF2-40B4-BE49-F238E27FC236}">
                <a16:creationId xmlns:a16="http://schemas.microsoft.com/office/drawing/2014/main" id="{7F469B6B-A47D-4BF0-9DDA-6CAB21E4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Authorship and attribution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Preexisting and newly created 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Hardware-specific contributions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Branding, reuse, and licensing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Review process and acceptance</a:t>
            </a:r>
          </a:p>
        </p:txBody>
      </p:sp>
      <p:sp>
        <p:nvSpPr>
          <p:cNvPr id="10" name="engagement-bottom">
            <a:extLst xmlns:a="http://schemas.openxmlformats.org/drawingml/2006/main">
              <a:ext uri="{FF2B5EF4-FFF2-40B4-BE49-F238E27FC236}">
                <a16:creationId xmlns:a16="http://schemas.microsoft.com/office/drawing/2014/main" id="{6486BDA1-A563-41E4-B0C5-AD6D62DB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ngagement-bottom-text">
            <a:extLst xmlns:a="http://schemas.openxmlformats.org/drawingml/2006/main">
              <a:ext uri="{FF2B5EF4-FFF2-40B4-BE49-F238E27FC236}">
                <a16:creationId xmlns:a16="http://schemas.microsoft.com/office/drawing/2014/main" id="{1E639F40-8BFA-4E58-824E-D93A8136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9597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B2A4A"/>
                </a:solidFill>
              </a:defRPr>
            </a:pPr>
            <a:r>
              <a:rPr sz="1275" b="1">
                <a:solidFill>
                  <a:srgbClr val="1B2A4A"/>
                </a:solidFill>
              </a:rPr>
              <a:t>Commercial scope and legal terms follow the agreed deliverables. This deck does not set them.</a:t>
            </a:r>
          </a:p>
        </p:txBody>
      </p:sp>
    </p:spTree>
    <p:extLst>
      <p:ext uri="{BB962C8B-B14F-4D97-AF65-F5344CB8AC3E}">
        <p14:creationId xmlns:p14="http://schemas.microsoft.com/office/powerpoint/2010/main" val="8050644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sk-kicker">
            <a:extLst xmlns:a="http://schemas.openxmlformats.org/drawingml/2006/main">
              <a:ext uri="{FF2B5EF4-FFF2-40B4-BE49-F238E27FC236}">
                <a16:creationId xmlns:a16="http://schemas.microsoft.com/office/drawing/2014/main" id="{F3DAE2D0-2064-48CF-84F9-BF4A420A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THE ASK</a:t>
            </a:r>
          </a:p>
        </p:txBody>
      </p:sp>
      <p:sp>
        <p:nvSpPr>
          <p:cNvPr id="2" name="ask-title">
            <a:extLst xmlns:a="http://schemas.openxmlformats.org/drawingml/2006/main">
              <a:ext uri="{FF2B5EF4-FFF2-40B4-BE49-F238E27FC236}">
                <a16:creationId xmlns:a16="http://schemas.microsoft.com/office/drawing/2014/main" id="{23A22450-5530-420B-BA01-E89AB354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Define the first proof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together.</a:t>
            </a:r>
          </a:p>
        </p:txBody>
      </p:sp>
      <p:sp>
        <p:nvSpPr>
          <p:cNvPr id="3" name="ask-sub">
            <a:extLst xmlns:a="http://schemas.openxmlformats.org/drawingml/2006/main">
              <a:ext uri="{FF2B5EF4-FFF2-40B4-BE49-F238E27FC236}">
                <a16:creationId xmlns:a16="http://schemas.microsoft.com/office/drawing/2014/main" id="{9098599E-8B88-4913-8F68-75E9613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2D9E4"/>
                </a:solidFill>
              </a:defRPr>
            </a:pPr>
            <a:r>
              <a:rPr sz="1725" b="0">
                <a:solidFill>
                  <a:srgbClr val="D2D9E4"/>
                </a:solidFill>
              </a:rPr>
              <a:t>A joint working session to align the narrative, select the first complete release, and scope the private consulting engagement.</a:t>
            </a:r>
          </a:p>
        </p:txBody>
      </p:sp>
      <p:sp>
        <p:nvSpPr>
          <p:cNvPr id="4" name="ask-rule">
            <a:extLst xmlns:a="http://schemas.openxmlformats.org/drawingml/2006/main">
              <a:ext uri="{FF2B5EF4-FFF2-40B4-BE49-F238E27FC236}">
                <a16:creationId xmlns:a16="http://schemas.microsoft.com/office/drawing/2014/main" id="{8776FE52-0AA6-48C1-B872-1EC510E7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627A"/>
            </a:solidFill>
            <a:prstDash val="solid"/>
          </a:ln>
        </p:spPr>
      </p:sp>
      <p:sp>
        <p:nvSpPr>
          <p:cNvPr id="5" name="ask-1">
            <a:extLst xmlns:a="http://schemas.openxmlformats.org/drawingml/2006/main">
              <a:ext uri="{FF2B5EF4-FFF2-40B4-BE49-F238E27FC236}">
                <a16:creationId xmlns:a16="http://schemas.microsoft.com/office/drawing/2014/main" id="{0A35F906-17BC-411A-A5ED-AB4D8F4F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0562B"/>
                </a:solidFill>
              </a:defRPr>
            </a:pPr>
            <a:r>
              <a:rPr sz="900" b="1">
                <a:solidFill>
                  <a:srgbClr val="C0562B"/>
                </a:solidFill>
              </a:rPr>
              <a:t>01</a:t>
            </a:r>
          </a:p>
        </p:txBody>
      </p:sp>
      <p:sp>
        <p:nvSpPr>
          <p:cNvPr id="6" name="ask-1-text">
            <a:extLst xmlns:a="http://schemas.openxmlformats.org/drawingml/2006/main">
              <a:ext uri="{FF2B5EF4-FFF2-40B4-BE49-F238E27FC236}">
                <a16:creationId xmlns:a16="http://schemas.microsoft.com/office/drawing/2014/main" id="{19F28573-048B-46D6-9939-0899E18E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Lock the canonical curriculum</a:t>
            </a:r>
          </a:p>
        </p:txBody>
      </p:sp>
      <p:sp>
        <p:nvSpPr>
          <p:cNvPr id="7" name="ask-2">
            <a:extLst xmlns:a="http://schemas.openxmlformats.org/drawingml/2006/main">
              <a:ext uri="{FF2B5EF4-FFF2-40B4-BE49-F238E27FC236}">
                <a16:creationId xmlns:a16="http://schemas.microsoft.com/office/drawing/2014/main" id="{92BC582D-B5DD-4765-8BDA-9017388A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0562B"/>
                </a:solidFill>
              </a:defRPr>
            </a:pPr>
            <a:r>
              <a:rPr sz="900" b="1">
                <a:solidFill>
                  <a:srgbClr val="C0562B"/>
                </a:solidFill>
              </a:rPr>
              <a:t>02</a:t>
            </a:r>
          </a:p>
        </p:txBody>
      </p:sp>
      <p:sp>
        <p:nvSpPr>
          <p:cNvPr id="8" name="ask-2-text">
            <a:extLst xmlns:a="http://schemas.openxmlformats.org/drawingml/2006/main">
              <a:ext uri="{FF2B5EF4-FFF2-40B4-BE49-F238E27FC236}">
                <a16:creationId xmlns:a16="http://schemas.microsoft.com/office/drawing/2014/main" id="{DA477D3F-A75D-4841-AB39-BE60139F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95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Choose the flagship release</a:t>
            </a:r>
          </a:p>
        </p:txBody>
      </p:sp>
      <p:sp>
        <p:nvSpPr>
          <p:cNvPr id="9" name="ask-3">
            <a:extLst xmlns:a="http://schemas.openxmlformats.org/drawingml/2006/main">
              <a:ext uri="{FF2B5EF4-FFF2-40B4-BE49-F238E27FC236}">
                <a16:creationId xmlns:a16="http://schemas.microsoft.com/office/drawing/2014/main" id="{F4743360-814C-4068-8604-187B1002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0562B"/>
                </a:solidFill>
              </a:defRPr>
            </a:pPr>
            <a:r>
              <a:rPr sz="900" b="1">
                <a:solidFill>
                  <a:srgbClr val="C0562B"/>
                </a:solidFill>
              </a:rPr>
              <a:t>03</a:t>
            </a:r>
          </a:p>
        </p:txBody>
      </p:sp>
      <p:sp>
        <p:nvSpPr>
          <p:cNvPr id="10" name="ask-3-text">
            <a:extLst xmlns:a="http://schemas.openxmlformats.org/drawingml/2006/main">
              <a:ext uri="{FF2B5EF4-FFF2-40B4-BE49-F238E27FC236}">
                <a16:creationId xmlns:a16="http://schemas.microsoft.com/office/drawing/2014/main" id="{EF6A40A3-47A0-4D2B-B729-F452D6C6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Define scope and terms</a:t>
            </a:r>
          </a:p>
        </p:txBody>
      </p:sp>
      <p:sp>
        <p:nvSpPr>
          <p:cNvPr id="11" name="ask-close">
            <a:extLst xmlns:a="http://schemas.openxmlformats.org/drawingml/2006/main">
              <a:ext uri="{FF2B5EF4-FFF2-40B4-BE49-F238E27FC236}">
                <a16:creationId xmlns:a16="http://schemas.microsoft.com/office/drawing/2014/main" id="{E235FCF5-C5C4-4602-824A-52560B19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Physical AI Engineering</a:t>
            </a:r>
          </a:p>
        </p:txBody>
      </p:sp>
      <p:sp>
        <p:nvSpPr>
          <p:cNvPr id="12" name="ask-contact">
            <a:extLst xmlns:a="http://schemas.openxmlformats.org/drawingml/2006/main">
              <a:ext uri="{FF2B5EF4-FFF2-40B4-BE49-F238E27FC236}">
                <a16:creationId xmlns:a16="http://schemas.microsoft.com/office/drawing/2014/main" id="{7FE6202C-21E6-40CF-9AAA-8922651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007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EB8C8"/>
                </a:solidFill>
              </a:defRPr>
            </a:pPr>
            <a:r>
              <a:rPr sz="1050" b="0">
                <a:solidFill>
                  <a:srgbClr val="AEB8C8"/>
                </a:solidFill>
              </a:rPr>
              <a:t>Vijay Janapa Reddi · Harvard University</a:t>
            </a:r>
          </a:p>
        </p:txBody>
      </p:sp>
    </p:spTree>
    <p:extLst>
      <p:ext uri="{BB962C8B-B14F-4D97-AF65-F5344CB8AC3E}">
        <p14:creationId xmlns:p14="http://schemas.microsoft.com/office/powerpoint/2010/main" val="415856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2026-07-14T10:45:20.2200000Z</dcterms:created>
  <dcterms:modified xsi:type="dcterms:W3CDTF">2026-07-14T10:45:20.2200000Z</dcterms:modified>
</coreProperties>
</file>